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13232" y="621792"/>
            <a:ext cx="1691640" cy="320040"/>
          </a:xfrm>
          <a:prstGeom prst="roundRect">
            <a:avLst>
              <a:gd name="adj" fmla="val 8000"/>
            </a:avLst>
          </a:prstGeom>
          <a:solidFill>
            <a:srgbClr val="1D2742"/>
          </a:solidFill>
          <a:ln w="15240">
            <a:solidFill>
              <a:srgbClr val="1D27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685800"/>
            <a:ext cx="16916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>
                <a:solidFill>
                  <a:srgbClr val="39D8FF"/>
                </a:solidFill>
                <a:latin typeface="Aptos"/>
              </a:rPr>
              <a:t>РАБОТАЮЩИЙ MVP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1307592"/>
            <a:ext cx="6035040" cy="15727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500" b="1">
                <a:solidFill>
                  <a:srgbClr val="F5F7FF"/>
                </a:solidFill>
                <a:latin typeface="Aptos Display"/>
              </a:rPr>
              <a:t>Сервис
ТВ-опросов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182112"/>
            <a:ext cx="6080760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>
                <a:solidFill>
                  <a:srgbClr val="A8B2CB"/>
                </a:solidFill>
                <a:latin typeface="Aptos"/>
              </a:rPr>
              <a:t>Зритель голосует по QR-коду.
Администратор сразу видит результат.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4956048"/>
            <a:ext cx="5715000" cy="713232"/>
          </a:xfrm>
          <a:prstGeom prst="roundRect">
            <a:avLst>
              <a:gd name="adj" fmla="val 8000"/>
            </a:avLst>
          </a:prstGeom>
          <a:solidFill>
            <a:srgbClr val="151C31"/>
          </a:solidFill>
          <a:ln w="15240">
            <a:solidFill>
              <a:srgbClr val="2B3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7552" y="5193792"/>
            <a:ext cx="52120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39D8FF"/>
                </a:solidFill>
                <a:latin typeface="Aptos"/>
              </a:rPr>
              <a:t>Просто для зрителя. Быстро для сервиса.</a:t>
            </a:r>
          </a:p>
        </p:txBody>
      </p:sp>
      <p:sp>
        <p:nvSpPr>
          <p:cNvPr id="8" name="Oval 7"/>
          <p:cNvSpPr/>
          <p:nvPr/>
        </p:nvSpPr>
        <p:spPr>
          <a:xfrm>
            <a:off x="7900416" y="1600200"/>
            <a:ext cx="2971800" cy="2971800"/>
          </a:xfrm>
          <a:prstGeom prst="ellipse">
            <a:avLst/>
          </a:prstGeom>
          <a:solidFill>
            <a:srgbClr val="1D2742"/>
          </a:solidFill>
          <a:ln>
            <a:solidFill>
              <a:srgbClr val="39D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00416" y="2487168"/>
            <a:ext cx="297180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900" b="1">
                <a:solidFill>
                  <a:srgbClr val="F5F7FF"/>
                </a:solidFill>
                <a:latin typeface="Aptos"/>
              </a:rPr>
              <a:t>100 млн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00416" y="3035808"/>
            <a:ext cx="2971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>
                <a:solidFill>
                  <a:srgbClr val="A8B2CB"/>
                </a:solidFill>
                <a:latin typeface="Aptos"/>
              </a:rPr>
              <a:t>возможных зрителей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6272784"/>
            <a:ext cx="66751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A8B2CB"/>
                </a:solidFill>
                <a:latin typeface="Aptos"/>
              </a:rPr>
              <a:t>FASTAPI · REDIS · POSTGRESQL · REACT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21792" y="365760"/>
            <a:ext cx="1508760" cy="320040"/>
          </a:xfrm>
          <a:prstGeom prst="roundRect">
            <a:avLst>
              <a:gd name="adj" fmla="val 8000"/>
            </a:avLst>
          </a:prstGeom>
          <a:solidFill>
            <a:srgbClr val="1D2742"/>
          </a:solidFill>
          <a:ln w="15240">
            <a:solidFill>
              <a:srgbClr val="1D27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429768"/>
            <a:ext cx="15087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>
                <a:solidFill>
                  <a:srgbClr val="39D8FF"/>
                </a:solidFill>
                <a:latin typeface="Aptos"/>
              </a:rPr>
              <a:t>ЗАДАЧА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822960"/>
            <a:ext cx="106070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F5F7FF"/>
                </a:solidFill>
                <a:latin typeface="Aptos Display"/>
              </a:rPr>
              <a:t>Что умеет сервис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21792" y="1472184"/>
            <a:ext cx="10945368" cy="0"/>
          </a:xfrm>
          <a:prstGeom prst="line">
            <a:avLst/>
          </a:prstGeom>
          <a:ln w="12700">
            <a:solidFill>
              <a:srgbClr val="2B36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128248" y="6428232"/>
            <a:ext cx="43891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A8B2CB"/>
                </a:solidFill>
                <a:latin typeface="Aptos"/>
              </a:rPr>
              <a:t>02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67512" y="1828800"/>
            <a:ext cx="5230368" cy="3310128"/>
          </a:xfrm>
          <a:prstGeom prst="roundRect">
            <a:avLst>
              <a:gd name="adj" fmla="val 8000"/>
            </a:avLst>
          </a:prstGeom>
          <a:solidFill>
            <a:srgbClr val="151C31"/>
          </a:solidFill>
          <a:ln w="15240">
            <a:solidFill>
              <a:srgbClr val="2B3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291072" y="1828800"/>
            <a:ext cx="5230368" cy="3310128"/>
          </a:xfrm>
          <a:prstGeom prst="roundRect">
            <a:avLst>
              <a:gd name="adj" fmla="val 8000"/>
            </a:avLst>
          </a:prstGeom>
          <a:solidFill>
            <a:srgbClr val="151C31"/>
          </a:solidFill>
          <a:ln w="15240">
            <a:solidFill>
              <a:srgbClr val="2B3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60120" y="2121408"/>
            <a:ext cx="1143000" cy="320040"/>
          </a:xfrm>
          <a:prstGeom prst="roundRect">
            <a:avLst>
              <a:gd name="adj" fmla="val 8000"/>
            </a:avLst>
          </a:prstGeom>
          <a:solidFill>
            <a:srgbClr val="1D2742"/>
          </a:solidFill>
          <a:ln w="15240">
            <a:solidFill>
              <a:srgbClr val="1D27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2185415"/>
            <a:ext cx="11430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>
                <a:solidFill>
                  <a:srgbClr val="39D8FF"/>
                </a:solidFill>
                <a:latin typeface="Aptos"/>
              </a:rPr>
              <a:t>ЗРИТЕЛЬ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0" y="2121408"/>
            <a:ext cx="1783080" cy="320040"/>
          </a:xfrm>
          <a:prstGeom prst="roundRect">
            <a:avLst>
              <a:gd name="adj" fmla="val 8000"/>
            </a:avLst>
          </a:prstGeom>
          <a:solidFill>
            <a:srgbClr val="1D2742"/>
          </a:solidFill>
          <a:ln w="15240">
            <a:solidFill>
              <a:srgbClr val="1D27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0" y="2185415"/>
            <a:ext cx="1783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>
                <a:solidFill>
                  <a:srgbClr val="8B7CFF"/>
                </a:solidFill>
                <a:latin typeface="Aptos"/>
              </a:rPr>
              <a:t>АДМИНИСТРАТОР</a:t>
            </a:r>
          </a:p>
        </p:txBody>
      </p:sp>
      <p:sp>
        <p:nvSpPr>
          <p:cNvPr id="13" name="Oval 12"/>
          <p:cNvSpPr/>
          <p:nvPr/>
        </p:nvSpPr>
        <p:spPr>
          <a:xfrm>
            <a:off x="969264" y="2852928"/>
            <a:ext cx="228600" cy="228600"/>
          </a:xfrm>
          <a:prstGeom prst="ellipse">
            <a:avLst/>
          </a:prstGeom>
          <a:solidFill>
            <a:srgbClr val="39D8FF"/>
          </a:solidFill>
          <a:ln>
            <a:solidFill>
              <a:srgbClr val="39D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9032" y="2816352"/>
            <a:ext cx="4315968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F5F7FF"/>
                </a:solidFill>
                <a:latin typeface="Aptos"/>
              </a:rPr>
              <a:t>Открывает ссылку по QR-коду</a:t>
            </a:r>
          </a:p>
        </p:txBody>
      </p:sp>
      <p:sp>
        <p:nvSpPr>
          <p:cNvPr id="15" name="Oval 14"/>
          <p:cNvSpPr/>
          <p:nvPr/>
        </p:nvSpPr>
        <p:spPr>
          <a:xfrm>
            <a:off x="969264" y="3547872"/>
            <a:ext cx="228600" cy="228600"/>
          </a:xfrm>
          <a:prstGeom prst="ellipse">
            <a:avLst/>
          </a:prstGeom>
          <a:solidFill>
            <a:srgbClr val="39D8FF"/>
          </a:solidFill>
          <a:ln>
            <a:solidFill>
              <a:srgbClr val="39D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99032" y="3511296"/>
            <a:ext cx="4315968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F5F7FF"/>
                </a:solidFill>
                <a:latin typeface="Aptos"/>
              </a:rPr>
              <a:t>Голосует без регистрации</a:t>
            </a:r>
          </a:p>
        </p:txBody>
      </p:sp>
      <p:sp>
        <p:nvSpPr>
          <p:cNvPr id="17" name="Oval 16"/>
          <p:cNvSpPr/>
          <p:nvPr/>
        </p:nvSpPr>
        <p:spPr>
          <a:xfrm>
            <a:off x="969264" y="4242816"/>
            <a:ext cx="228600" cy="228600"/>
          </a:xfrm>
          <a:prstGeom prst="ellipse">
            <a:avLst/>
          </a:prstGeom>
          <a:solidFill>
            <a:srgbClr val="39D8FF"/>
          </a:solidFill>
          <a:ln>
            <a:solidFill>
              <a:srgbClr val="39D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9032" y="4206240"/>
            <a:ext cx="4315968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F5F7FF"/>
                </a:solidFill>
                <a:latin typeface="Aptos"/>
              </a:rPr>
              <a:t>Не может случайно проголосовать дважды</a:t>
            </a:r>
          </a:p>
        </p:txBody>
      </p:sp>
      <p:sp>
        <p:nvSpPr>
          <p:cNvPr id="19" name="Oval 18"/>
          <p:cNvSpPr/>
          <p:nvPr/>
        </p:nvSpPr>
        <p:spPr>
          <a:xfrm>
            <a:off x="6592824" y="2852928"/>
            <a:ext cx="228600" cy="228600"/>
          </a:xfrm>
          <a:prstGeom prst="ellipse">
            <a:avLst/>
          </a:prstGeom>
          <a:solidFill>
            <a:srgbClr val="8B7CFF"/>
          </a:solidFill>
          <a:ln>
            <a:solidFill>
              <a:srgbClr val="8B7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22592" y="2816352"/>
            <a:ext cx="4315968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F5F7FF"/>
                </a:solidFill>
                <a:latin typeface="Aptos"/>
              </a:rPr>
              <a:t>Создаёт и запускает опрос</a:t>
            </a:r>
          </a:p>
        </p:txBody>
      </p:sp>
      <p:sp>
        <p:nvSpPr>
          <p:cNvPr id="21" name="Oval 20"/>
          <p:cNvSpPr/>
          <p:nvPr/>
        </p:nvSpPr>
        <p:spPr>
          <a:xfrm>
            <a:off x="6592824" y="3547872"/>
            <a:ext cx="228600" cy="228600"/>
          </a:xfrm>
          <a:prstGeom prst="ellipse">
            <a:avLst/>
          </a:prstGeom>
          <a:solidFill>
            <a:srgbClr val="8B7CFF"/>
          </a:solidFill>
          <a:ln>
            <a:solidFill>
              <a:srgbClr val="8B7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22592" y="3511296"/>
            <a:ext cx="4315968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F5F7FF"/>
                </a:solidFill>
                <a:latin typeface="Aptos"/>
              </a:rPr>
              <a:t>Получает ссылку и QR-код</a:t>
            </a:r>
          </a:p>
        </p:txBody>
      </p:sp>
      <p:sp>
        <p:nvSpPr>
          <p:cNvPr id="23" name="Oval 22"/>
          <p:cNvSpPr/>
          <p:nvPr/>
        </p:nvSpPr>
        <p:spPr>
          <a:xfrm>
            <a:off x="6592824" y="4242816"/>
            <a:ext cx="228600" cy="228600"/>
          </a:xfrm>
          <a:prstGeom prst="ellipse">
            <a:avLst/>
          </a:prstGeom>
          <a:solidFill>
            <a:srgbClr val="8B7CFF"/>
          </a:solidFill>
          <a:ln>
            <a:solidFill>
              <a:srgbClr val="8B7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022592" y="4206240"/>
            <a:ext cx="4315968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F5F7FF"/>
                </a:solidFill>
                <a:latin typeface="Aptos"/>
              </a:rPr>
              <a:t>Смотрит результаты в реальном времени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828800" y="5559552"/>
            <a:ext cx="8540496" cy="603504"/>
          </a:xfrm>
          <a:prstGeom prst="roundRect">
            <a:avLst>
              <a:gd name="adj" fmla="val 8000"/>
            </a:avLst>
          </a:prstGeom>
          <a:solidFill>
            <a:srgbClr val="1D2742"/>
          </a:solidFill>
          <a:ln w="15240">
            <a:solidFill>
              <a:srgbClr val="1D27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828800" y="5751576"/>
            <a:ext cx="8540496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FFC857"/>
                </a:solidFill>
                <a:latin typeface="Aptos"/>
              </a:rPr>
              <a:t>Главная сложность: много голосов приходит почти одновременно.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21792" y="365760"/>
            <a:ext cx="1508760" cy="320040"/>
          </a:xfrm>
          <a:prstGeom prst="roundRect">
            <a:avLst>
              <a:gd name="adj" fmla="val 8000"/>
            </a:avLst>
          </a:prstGeom>
          <a:solidFill>
            <a:srgbClr val="1D2742"/>
          </a:solidFill>
          <a:ln w="15240">
            <a:solidFill>
              <a:srgbClr val="1D27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429768"/>
            <a:ext cx="15087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>
                <a:solidFill>
                  <a:srgbClr val="39D8FF"/>
                </a:solidFill>
                <a:latin typeface="Aptos"/>
              </a:rPr>
              <a:t>СХЕМА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822960"/>
            <a:ext cx="106070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F5F7FF"/>
                </a:solidFill>
                <a:latin typeface="Aptos Display"/>
              </a:rPr>
              <a:t>Как всё связано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21792" y="1472184"/>
            <a:ext cx="10945368" cy="0"/>
          </a:xfrm>
          <a:prstGeom prst="line">
            <a:avLst/>
          </a:prstGeom>
          <a:ln w="12700">
            <a:solidFill>
              <a:srgbClr val="2B36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128248" y="6428232"/>
            <a:ext cx="43891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A8B2CB"/>
                </a:solidFill>
                <a:latin typeface="Aptos"/>
              </a:rPr>
              <a:t>03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2221992"/>
            <a:ext cx="2084831" cy="1298448"/>
          </a:xfrm>
          <a:prstGeom prst="roundRect">
            <a:avLst>
              <a:gd name="adj" fmla="val 8000"/>
            </a:avLst>
          </a:prstGeom>
          <a:solidFill>
            <a:srgbClr val="151C31"/>
          </a:solidFill>
          <a:ln w="15240">
            <a:solidFill>
              <a:srgbClr val="39D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2523744"/>
            <a:ext cx="2084831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1">
                <a:solidFill>
                  <a:srgbClr val="F5F7FF"/>
                </a:solidFill>
                <a:latin typeface="Aptos"/>
              </a:rPr>
              <a:t>Зритель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2926080"/>
            <a:ext cx="2084831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A8B2CB"/>
                </a:solidFill>
                <a:latin typeface="Aptos"/>
              </a:rPr>
              <a:t>открывает QR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798063" y="2871216"/>
            <a:ext cx="512065" cy="0"/>
          </a:xfrm>
          <a:prstGeom prst="line">
            <a:avLst/>
          </a:prstGeom>
          <a:ln w="27940">
            <a:solidFill>
              <a:srgbClr val="39D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3310128" y="2221992"/>
            <a:ext cx="2084831" cy="1298448"/>
          </a:xfrm>
          <a:prstGeom prst="roundRect">
            <a:avLst>
              <a:gd name="adj" fmla="val 8000"/>
            </a:avLst>
          </a:prstGeom>
          <a:solidFill>
            <a:srgbClr val="151C31"/>
          </a:solidFill>
          <a:ln w="15240">
            <a:solidFill>
              <a:srgbClr val="8B7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10128" y="2523744"/>
            <a:ext cx="2084831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1">
                <a:solidFill>
                  <a:srgbClr val="F5F7FF"/>
                </a:solidFill>
                <a:latin typeface="Aptos"/>
              </a:rPr>
              <a:t>API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10128" y="2926080"/>
            <a:ext cx="2084831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A8B2CB"/>
                </a:solidFill>
                <a:latin typeface="Aptos"/>
              </a:rPr>
              <a:t>проверяет запрос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394960" y="2871216"/>
            <a:ext cx="512064" cy="0"/>
          </a:xfrm>
          <a:prstGeom prst="line">
            <a:avLst/>
          </a:prstGeom>
          <a:ln w="27940">
            <a:solidFill>
              <a:srgbClr val="8B7C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5907024" y="2221992"/>
            <a:ext cx="2084831" cy="1298448"/>
          </a:xfrm>
          <a:prstGeom prst="roundRect">
            <a:avLst>
              <a:gd name="adj" fmla="val 8000"/>
            </a:avLst>
          </a:prstGeom>
          <a:solidFill>
            <a:srgbClr val="151C31"/>
          </a:solidFill>
          <a:ln w="15240">
            <a:solidFill>
              <a:srgbClr val="5DE2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07024" y="2523744"/>
            <a:ext cx="2084831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1">
                <a:solidFill>
                  <a:srgbClr val="F5F7FF"/>
                </a:solidFill>
                <a:latin typeface="Aptos"/>
              </a:rPr>
              <a:t>Redis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07024" y="2926080"/>
            <a:ext cx="2084831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A8B2CB"/>
                </a:solidFill>
                <a:latin typeface="Aptos"/>
              </a:rPr>
              <a:t>быстро считает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991856" y="2871216"/>
            <a:ext cx="512064" cy="0"/>
          </a:xfrm>
          <a:prstGeom prst="line">
            <a:avLst/>
          </a:prstGeom>
          <a:ln w="27940">
            <a:solidFill>
              <a:srgbClr val="5DE2A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8503920" y="2221992"/>
            <a:ext cx="2084831" cy="1298448"/>
          </a:xfrm>
          <a:prstGeom prst="roundRect">
            <a:avLst>
              <a:gd name="adj" fmla="val 8000"/>
            </a:avLst>
          </a:prstGeom>
          <a:solidFill>
            <a:srgbClr val="151C31"/>
          </a:solidFill>
          <a:ln w="15240">
            <a:solidFill>
              <a:srgbClr val="FFC8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03920" y="2523744"/>
            <a:ext cx="2084831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1">
                <a:solidFill>
                  <a:srgbClr val="F5F7FF"/>
                </a:solidFill>
                <a:latin typeface="Aptos"/>
              </a:rPr>
              <a:t>PostgreSQL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20" y="2926080"/>
            <a:ext cx="2084831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A8B2CB"/>
                </a:solidFill>
                <a:latin typeface="Aptos"/>
              </a:rPr>
              <a:t>надёжно хранит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87552" y="4370832"/>
            <a:ext cx="10204704" cy="1170432"/>
          </a:xfrm>
          <a:prstGeom prst="roundRect">
            <a:avLst>
              <a:gd name="adj" fmla="val 8000"/>
            </a:avLst>
          </a:prstGeom>
          <a:solidFill>
            <a:srgbClr val="1D2742"/>
          </a:solidFill>
          <a:ln w="15240">
            <a:solidFill>
              <a:srgbClr val="2B3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44168" y="4663440"/>
            <a:ext cx="2880360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>
                <a:solidFill>
                  <a:srgbClr val="5DE2A5"/>
                </a:solidFill>
                <a:latin typeface="Aptos"/>
              </a:rPr>
              <a:t>Redis принимает пик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17136" y="4663440"/>
            <a:ext cx="3328416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>
                <a:solidFill>
                  <a:srgbClr val="FFC857"/>
                </a:solidFill>
                <a:latin typeface="Aptos"/>
              </a:rPr>
              <a:t>PostgreSQL сохраняет историю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74152" y="4663440"/>
            <a:ext cx="2688336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>
                <a:solidFill>
                  <a:srgbClr val="39D8FF"/>
                </a:solidFill>
                <a:latin typeface="Aptos"/>
              </a:rPr>
              <a:t>API можно масштабировать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87552" y="5961888"/>
            <a:ext cx="1020470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1">
                <a:solidFill>
                  <a:srgbClr val="F5F7FF"/>
                </a:solidFill>
                <a:latin typeface="Aptos"/>
              </a:rPr>
              <a:t>Быстрая часть и надёжная часть не мешают друг другу.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21792" y="365760"/>
            <a:ext cx="1508760" cy="320040"/>
          </a:xfrm>
          <a:prstGeom prst="roundRect">
            <a:avLst>
              <a:gd name="adj" fmla="val 8000"/>
            </a:avLst>
          </a:prstGeom>
          <a:solidFill>
            <a:srgbClr val="1D2742"/>
          </a:solidFill>
          <a:ln w="15240">
            <a:solidFill>
              <a:srgbClr val="1D27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429768"/>
            <a:ext cx="15087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>
                <a:solidFill>
                  <a:srgbClr val="39D8FF"/>
                </a:solidFill>
                <a:latin typeface="Aptos"/>
              </a:rPr>
              <a:t>ОДИН ГОЛОС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822960"/>
            <a:ext cx="106070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F5F7FF"/>
                </a:solidFill>
                <a:latin typeface="Aptos Display"/>
              </a:rPr>
              <a:t>Что происходит после нажатия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21792" y="1472184"/>
            <a:ext cx="10945368" cy="0"/>
          </a:xfrm>
          <a:prstGeom prst="line">
            <a:avLst/>
          </a:prstGeom>
          <a:ln w="12700">
            <a:solidFill>
              <a:srgbClr val="2B36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128248" y="6428232"/>
            <a:ext cx="43891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A8B2CB"/>
                </a:solidFill>
                <a:latin typeface="Aptos"/>
              </a:rPr>
              <a:t>04</a:t>
            </a:r>
          </a:p>
        </p:txBody>
      </p:sp>
      <p:sp>
        <p:nvSpPr>
          <p:cNvPr id="7" name="Oval 6"/>
          <p:cNvSpPr/>
          <p:nvPr/>
        </p:nvSpPr>
        <p:spPr>
          <a:xfrm>
            <a:off x="804672" y="1956816"/>
            <a:ext cx="420624" cy="420624"/>
          </a:xfrm>
          <a:prstGeom prst="ellipse">
            <a:avLst/>
          </a:prstGeom>
          <a:solidFill>
            <a:srgbClr val="39D8FF"/>
          </a:solidFill>
          <a:ln>
            <a:solidFill>
              <a:srgbClr val="39D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2048256"/>
            <a:ext cx="4206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0B1020"/>
                </a:solidFill>
                <a:latin typeface="Aptos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947672"/>
            <a:ext cx="3566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>
                <a:solidFill>
                  <a:srgbClr val="F5F7FF"/>
                </a:solidFill>
                <a:latin typeface="Aptos"/>
              </a:rPr>
              <a:t>Проверяем опрос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2313432"/>
            <a:ext cx="3703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A8B2CB"/>
                </a:solidFill>
                <a:latin typeface="Aptos"/>
              </a:rPr>
              <a:t>Он опубликован и ещё открыт.</a:t>
            </a:r>
          </a:p>
        </p:txBody>
      </p:sp>
      <p:sp>
        <p:nvSpPr>
          <p:cNvPr id="11" name="Oval 10"/>
          <p:cNvSpPr/>
          <p:nvPr/>
        </p:nvSpPr>
        <p:spPr>
          <a:xfrm>
            <a:off x="6172200" y="1956816"/>
            <a:ext cx="420624" cy="420624"/>
          </a:xfrm>
          <a:prstGeom prst="ellipse">
            <a:avLst/>
          </a:prstGeom>
          <a:solidFill>
            <a:srgbClr val="8B7CFF"/>
          </a:solidFill>
          <a:ln>
            <a:solidFill>
              <a:srgbClr val="8B7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72200" y="2048256"/>
            <a:ext cx="4206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0B1020"/>
                </a:solidFill>
                <a:latin typeface="Aptos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84848" y="1947672"/>
            <a:ext cx="3566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>
                <a:solidFill>
                  <a:srgbClr val="F5F7FF"/>
                </a:solidFill>
                <a:latin typeface="Aptos"/>
              </a:rPr>
              <a:t>Проверяем ответ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84848" y="2313432"/>
            <a:ext cx="3703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A8B2CB"/>
                </a:solidFill>
                <a:latin typeface="Aptos"/>
              </a:rPr>
              <a:t>Такой вариант действительно существует.</a:t>
            </a:r>
          </a:p>
        </p:txBody>
      </p:sp>
      <p:sp>
        <p:nvSpPr>
          <p:cNvPr id="15" name="Oval 14"/>
          <p:cNvSpPr/>
          <p:nvPr/>
        </p:nvSpPr>
        <p:spPr>
          <a:xfrm>
            <a:off x="804672" y="3456432"/>
            <a:ext cx="420624" cy="420624"/>
          </a:xfrm>
          <a:prstGeom prst="ellipse">
            <a:avLst/>
          </a:prstGeom>
          <a:solidFill>
            <a:srgbClr val="5DE2A5"/>
          </a:solidFill>
          <a:ln>
            <a:solidFill>
              <a:srgbClr val="5DE2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672" y="3547872"/>
            <a:ext cx="4206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0B1020"/>
                </a:solidFill>
                <a:latin typeface="Aptos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17320" y="3447288"/>
            <a:ext cx="3566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>
                <a:solidFill>
                  <a:srgbClr val="F5F7FF"/>
                </a:solidFill>
                <a:latin typeface="Aptos"/>
              </a:rPr>
              <a:t>Проверяем повтор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17320" y="3813048"/>
            <a:ext cx="3703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A8B2CB"/>
                </a:solidFill>
                <a:latin typeface="Aptos"/>
              </a:rPr>
              <a:t>Этот браузер ещё не голосовал.</a:t>
            </a:r>
          </a:p>
        </p:txBody>
      </p:sp>
      <p:sp>
        <p:nvSpPr>
          <p:cNvPr id="19" name="Oval 18"/>
          <p:cNvSpPr/>
          <p:nvPr/>
        </p:nvSpPr>
        <p:spPr>
          <a:xfrm>
            <a:off x="6172200" y="3456432"/>
            <a:ext cx="420624" cy="420624"/>
          </a:xfrm>
          <a:prstGeom prst="ellipse">
            <a:avLst/>
          </a:prstGeom>
          <a:solidFill>
            <a:srgbClr val="FFC857"/>
          </a:solidFill>
          <a:ln>
            <a:solidFill>
              <a:srgbClr val="FFC8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72200" y="3547872"/>
            <a:ext cx="4206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0B1020"/>
                </a:solidFill>
                <a:latin typeface="Aptos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84848" y="3447288"/>
            <a:ext cx="3566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>
                <a:solidFill>
                  <a:srgbClr val="F5F7FF"/>
                </a:solidFill>
                <a:latin typeface="Aptos"/>
              </a:rPr>
              <a:t>Сохраняем голос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84848" y="3813048"/>
            <a:ext cx="3703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A8B2CB"/>
                </a:solidFill>
                <a:latin typeface="Aptos"/>
              </a:rPr>
              <a:t>Счётчик обновляется сразу, журнал пишется следом.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417320" y="5148072"/>
            <a:ext cx="9345168" cy="694944"/>
          </a:xfrm>
          <a:prstGeom prst="roundRect">
            <a:avLst>
              <a:gd name="adj" fmla="val 8000"/>
            </a:avLst>
          </a:prstGeom>
          <a:solidFill>
            <a:srgbClr val="1D2742"/>
          </a:solidFill>
          <a:ln w="15240">
            <a:solidFill>
              <a:srgbClr val="5DE2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417320" y="5376672"/>
            <a:ext cx="934516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1">
                <a:solidFill>
                  <a:srgbClr val="F5F7FF"/>
                </a:solidFill>
                <a:latin typeface="Aptos"/>
              </a:rPr>
              <a:t>Проверка повтора и увеличение счётчика выполняются вместе.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17320" y="6053328"/>
            <a:ext cx="934516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>
                <a:solidFill>
                  <a:srgbClr val="A8B2CB"/>
                </a:solidFill>
                <a:latin typeface="Aptos"/>
              </a:rPr>
              <a:t>Новый голос → принят   ·   повторный голос → отклонён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21792" y="365760"/>
            <a:ext cx="1508760" cy="320040"/>
          </a:xfrm>
          <a:prstGeom prst="roundRect">
            <a:avLst>
              <a:gd name="adj" fmla="val 8000"/>
            </a:avLst>
          </a:prstGeom>
          <a:solidFill>
            <a:srgbClr val="1D2742"/>
          </a:solidFill>
          <a:ln w="15240">
            <a:solidFill>
              <a:srgbClr val="1D27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429768"/>
            <a:ext cx="15087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>
                <a:solidFill>
                  <a:srgbClr val="39D8FF"/>
                </a:solidFill>
                <a:latin typeface="Aptos"/>
              </a:rPr>
              <a:t>ДЕМО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822960"/>
            <a:ext cx="106070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F5F7FF"/>
                </a:solidFill>
                <a:latin typeface="Aptos Display"/>
              </a:rPr>
              <a:t>Демонстрация проекта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21792" y="1472184"/>
            <a:ext cx="10945368" cy="0"/>
          </a:xfrm>
          <a:prstGeom prst="line">
            <a:avLst/>
          </a:prstGeom>
          <a:ln w="12700">
            <a:solidFill>
              <a:srgbClr val="2B36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128248" y="6428232"/>
            <a:ext cx="43891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A8B2CB"/>
                </a:solidFill>
                <a:latin typeface="Aptos"/>
              </a:rPr>
              <a:t>05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92224"/>
            <a:ext cx="7452360" cy="4370832"/>
          </a:xfrm>
          <a:prstGeom prst="roundRect">
            <a:avLst>
              <a:gd name="adj" fmla="val 8000"/>
            </a:avLst>
          </a:prstGeom>
          <a:solidFill>
            <a:srgbClr val="151C31"/>
          </a:solidFill>
          <a:ln w="15240">
            <a:solidFill>
              <a:srgbClr val="39D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767328" y="3090672"/>
            <a:ext cx="1078992" cy="1078992"/>
          </a:xfrm>
          <a:prstGeom prst="ellipse">
            <a:avLst/>
          </a:prstGeom>
          <a:solidFill>
            <a:srgbClr val="39D8FF"/>
          </a:solidFill>
          <a:ln>
            <a:solidFill>
              <a:srgbClr val="39D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31336" y="3346704"/>
            <a:ext cx="9144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800" b="1">
                <a:solidFill>
                  <a:srgbClr val="0B1020"/>
                </a:solidFill>
                <a:latin typeface="Aptos"/>
              </a:rPr>
              <a:t>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91056" y="4480560"/>
            <a:ext cx="559612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1">
                <a:solidFill>
                  <a:srgbClr val="F5F7FF"/>
                </a:solidFill>
                <a:latin typeface="Aptos"/>
              </a:rPr>
              <a:t>МЕСТО ДЛЯ ВИДЕО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91056" y="4919472"/>
            <a:ext cx="559612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A8B2CB"/>
                </a:solidFill>
                <a:latin typeface="Aptos"/>
              </a:rPr>
              <a:t>Оптимальная длительность: 60–90 секунд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77072" y="1874519"/>
            <a:ext cx="21945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>
                <a:solidFill>
                  <a:srgbClr val="F5F7FF"/>
                </a:solidFill>
                <a:latin typeface="Aptos"/>
              </a:rPr>
              <a:t>В видео</a:t>
            </a:r>
          </a:p>
        </p:txBody>
      </p:sp>
      <p:sp>
        <p:nvSpPr>
          <p:cNvPr id="13" name="Oval 12"/>
          <p:cNvSpPr/>
          <p:nvPr/>
        </p:nvSpPr>
        <p:spPr>
          <a:xfrm>
            <a:off x="8577072" y="2514600"/>
            <a:ext cx="365760" cy="365760"/>
          </a:xfrm>
          <a:prstGeom prst="ellipse">
            <a:avLst/>
          </a:prstGeom>
          <a:solidFill>
            <a:srgbClr val="39D8FF"/>
          </a:solidFill>
          <a:ln>
            <a:solidFill>
              <a:srgbClr val="39D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77072" y="2596896"/>
            <a:ext cx="3657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0B1020"/>
                </a:solidFill>
                <a:latin typeface="Aptos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0" y="2551176"/>
            <a:ext cx="2331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F5F7FF"/>
                </a:solidFill>
                <a:latin typeface="Aptos"/>
              </a:rPr>
              <a:t>Создание опроса</a:t>
            </a:r>
          </a:p>
        </p:txBody>
      </p:sp>
      <p:sp>
        <p:nvSpPr>
          <p:cNvPr id="16" name="Oval 15"/>
          <p:cNvSpPr/>
          <p:nvPr/>
        </p:nvSpPr>
        <p:spPr>
          <a:xfrm>
            <a:off x="8577072" y="3273552"/>
            <a:ext cx="365760" cy="365760"/>
          </a:xfrm>
          <a:prstGeom prst="ellipse">
            <a:avLst/>
          </a:prstGeom>
          <a:solidFill>
            <a:srgbClr val="39D8FF"/>
          </a:solidFill>
          <a:ln>
            <a:solidFill>
              <a:srgbClr val="39D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77072" y="3355848"/>
            <a:ext cx="3657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0B1020"/>
                </a:solidFill>
                <a:latin typeface="Aptos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0" y="3310128"/>
            <a:ext cx="2331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F5F7FF"/>
                </a:solidFill>
                <a:latin typeface="Aptos"/>
              </a:rPr>
              <a:t>Голосование по QR</a:t>
            </a:r>
          </a:p>
        </p:txBody>
      </p:sp>
      <p:sp>
        <p:nvSpPr>
          <p:cNvPr id="19" name="Oval 18"/>
          <p:cNvSpPr/>
          <p:nvPr/>
        </p:nvSpPr>
        <p:spPr>
          <a:xfrm>
            <a:off x="8577072" y="4032504"/>
            <a:ext cx="365760" cy="365760"/>
          </a:xfrm>
          <a:prstGeom prst="ellipse">
            <a:avLst/>
          </a:prstGeom>
          <a:solidFill>
            <a:srgbClr val="5DE2A5"/>
          </a:solidFill>
          <a:ln>
            <a:solidFill>
              <a:srgbClr val="5DE2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77072" y="4114800"/>
            <a:ext cx="3657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0B1020"/>
                </a:solidFill>
                <a:latin typeface="Aptos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0" y="4069080"/>
            <a:ext cx="2331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F5F7FF"/>
                </a:solidFill>
                <a:latin typeface="Aptos"/>
              </a:rPr>
              <a:t>Живой результат</a:t>
            </a:r>
          </a:p>
        </p:txBody>
      </p:sp>
      <p:sp>
        <p:nvSpPr>
          <p:cNvPr id="22" name="Oval 21"/>
          <p:cNvSpPr/>
          <p:nvPr/>
        </p:nvSpPr>
        <p:spPr>
          <a:xfrm>
            <a:off x="8577072" y="4791456"/>
            <a:ext cx="365760" cy="365760"/>
          </a:xfrm>
          <a:prstGeom prst="ellipse">
            <a:avLst/>
          </a:prstGeom>
          <a:solidFill>
            <a:srgbClr val="5DE2A5"/>
          </a:solidFill>
          <a:ln>
            <a:solidFill>
              <a:srgbClr val="5DE2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77072" y="4873752"/>
            <a:ext cx="3657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0B1020"/>
                </a:solidFill>
                <a:latin typeface="Aptos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0" y="4828032"/>
            <a:ext cx="2331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F5F7FF"/>
                </a:solidFill>
                <a:latin typeface="Aptos"/>
              </a:rPr>
              <a:t>Защита от повтора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21792" y="365760"/>
            <a:ext cx="1508760" cy="320040"/>
          </a:xfrm>
          <a:prstGeom prst="roundRect">
            <a:avLst>
              <a:gd name="adj" fmla="val 8000"/>
            </a:avLst>
          </a:prstGeom>
          <a:solidFill>
            <a:srgbClr val="1D2742"/>
          </a:solidFill>
          <a:ln w="15240">
            <a:solidFill>
              <a:srgbClr val="1D27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429768"/>
            <a:ext cx="15087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>
                <a:solidFill>
                  <a:srgbClr val="39D8FF"/>
                </a:solidFill>
                <a:latin typeface="Aptos"/>
              </a:rPr>
              <a:t>ГОТОВО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822960"/>
            <a:ext cx="106070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F5F7FF"/>
                </a:solidFill>
                <a:latin typeface="Aptos Display"/>
              </a:rPr>
              <a:t>Итог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21792" y="1472184"/>
            <a:ext cx="10945368" cy="0"/>
          </a:xfrm>
          <a:prstGeom prst="line">
            <a:avLst/>
          </a:prstGeom>
          <a:ln w="12700">
            <a:solidFill>
              <a:srgbClr val="2B36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128248" y="6428232"/>
            <a:ext cx="43891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A8B2CB"/>
                </a:solidFill>
                <a:latin typeface="Aptos"/>
              </a:rPr>
              <a:t>06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" y="1856231"/>
            <a:ext cx="3401568" cy="1325880"/>
          </a:xfrm>
          <a:prstGeom prst="roundRect">
            <a:avLst>
              <a:gd name="adj" fmla="val 8000"/>
            </a:avLst>
          </a:prstGeom>
          <a:solidFill>
            <a:srgbClr val="151C31"/>
          </a:solidFill>
          <a:ln w="15240">
            <a:solidFill>
              <a:srgbClr val="39D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41832" y="2176272"/>
            <a:ext cx="29077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F5F7FF"/>
                </a:solidFill>
                <a:latin typeface="Aptos"/>
              </a:rPr>
              <a:t>Рабочий продукт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1832" y="2606040"/>
            <a:ext cx="290779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A8B2CB"/>
                </a:solidFill>
                <a:latin typeface="Aptos"/>
              </a:rPr>
              <a:t>Публичная форма и админка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80559" y="1856231"/>
            <a:ext cx="3401568" cy="1325880"/>
          </a:xfrm>
          <a:prstGeom prst="roundRect">
            <a:avLst>
              <a:gd name="adj" fmla="val 8000"/>
            </a:avLst>
          </a:prstGeom>
          <a:solidFill>
            <a:srgbClr val="151C31"/>
          </a:solidFill>
          <a:ln w="15240">
            <a:solidFill>
              <a:srgbClr val="5DE2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27448" y="2176272"/>
            <a:ext cx="29077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F5F7FF"/>
                </a:solidFill>
                <a:latin typeface="Aptos"/>
              </a:rPr>
              <a:t>Быстрый приём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27448" y="2606040"/>
            <a:ext cx="290779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A8B2CB"/>
                </a:solidFill>
                <a:latin typeface="Aptos"/>
              </a:rPr>
              <a:t>Redis считает голоса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66175" y="1856231"/>
            <a:ext cx="3401568" cy="1325880"/>
          </a:xfrm>
          <a:prstGeom prst="roundRect">
            <a:avLst>
              <a:gd name="adj" fmla="val 8000"/>
            </a:avLst>
          </a:prstGeom>
          <a:solidFill>
            <a:srgbClr val="151C31"/>
          </a:solidFill>
          <a:ln w="15240">
            <a:solidFill>
              <a:srgbClr val="FFC8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13063" y="2176272"/>
            <a:ext cx="29077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F5F7FF"/>
                </a:solidFill>
                <a:latin typeface="Aptos"/>
              </a:rPr>
              <a:t>Надёжный итог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13063" y="2606040"/>
            <a:ext cx="290779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A8B2CB"/>
                </a:solidFill>
                <a:latin typeface="Aptos"/>
              </a:rPr>
              <a:t>PostgreSQL хранит историю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" y="3767328"/>
            <a:ext cx="4114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>
                <a:solidFill>
                  <a:srgbClr val="F5F7FF"/>
                </a:solidFill>
                <a:latin typeface="Aptos"/>
              </a:rPr>
              <a:t>Что нужно для большой нагрузки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4315968"/>
            <a:ext cx="3931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8B7CFF"/>
                </a:solidFill>
                <a:latin typeface="Aptos"/>
              </a:rPr>
              <a:t>01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98448" y="4297680"/>
            <a:ext cx="48920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A8B2CB"/>
                </a:solidFill>
                <a:latin typeface="Aptos"/>
              </a:rPr>
              <a:t>Провести полноценный нагрузочный тест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4828031"/>
            <a:ext cx="3931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8B7CFF"/>
                </a:solidFill>
                <a:latin typeface="Aptos"/>
              </a:rPr>
              <a:t>02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98448" y="4809744"/>
            <a:ext cx="48920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A8B2CB"/>
                </a:solidFill>
                <a:latin typeface="Aptos"/>
              </a:rPr>
              <a:t>Добавить мониторинг и уведомления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5340096"/>
            <a:ext cx="3931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8B7CFF"/>
                </a:solidFill>
                <a:latin typeface="Aptos"/>
              </a:rP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98448" y="5321808"/>
            <a:ext cx="48920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A8B2CB"/>
                </a:solidFill>
                <a:latin typeface="Aptos"/>
              </a:rPr>
              <a:t>Сделать журнал устойчивым к падению процесса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739128" y="3749039"/>
            <a:ext cx="4718304" cy="1901952"/>
          </a:xfrm>
          <a:prstGeom prst="roundRect">
            <a:avLst>
              <a:gd name="adj" fmla="val 8000"/>
            </a:avLst>
          </a:prstGeom>
          <a:solidFill>
            <a:srgbClr val="1D2742"/>
          </a:solidFill>
          <a:ln w="15240">
            <a:solidFill>
              <a:srgbClr val="5DE2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040880" y="4096512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5DE2A5"/>
                </a:solidFill>
                <a:latin typeface="Aptos"/>
              </a:rPr>
              <a:t>Главный результат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40880" y="4572000"/>
            <a:ext cx="411480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200" b="1">
                <a:solidFill>
                  <a:srgbClr val="F5F7FF"/>
                </a:solidFill>
                <a:latin typeface="Aptos"/>
              </a:rPr>
              <a:t>Система уже работает
и готова к демонстрации.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Сервис ТВ-опросов</dc:title>
  <dc:subject>Краткая презентация проекта</dc:subject>
  <dc:creator>Crypto Enthusiast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