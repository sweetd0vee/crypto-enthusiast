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915400" y="2514600"/>
            <a:ext cx="146304" cy="146304"/>
          </a:xfrm>
          <a:prstGeom prst="ellipse">
            <a:avLst/>
          </a:prstGeom>
          <a:solidFill>
            <a:srgbClr val="39D8FF"/>
          </a:solidFill>
          <a:ln w="12700">
            <a:solidFill>
              <a:srgbClr val="39D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25603" y="3136568"/>
            <a:ext cx="192024" cy="192024"/>
          </a:xfrm>
          <a:prstGeom prst="ellipse">
            <a:avLst/>
          </a:prstGeom>
          <a:solidFill>
            <a:srgbClr val="8B7CFF"/>
          </a:solidFill>
          <a:ln w="12700">
            <a:solidFill>
              <a:srgbClr val="8B7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028161" y="3397159"/>
            <a:ext cx="237744" cy="237744"/>
          </a:xfrm>
          <a:prstGeom prst="ellipse">
            <a:avLst/>
          </a:prstGeom>
          <a:solidFill>
            <a:srgbClr val="39D8FF"/>
          </a:solidFill>
          <a:ln w="12700">
            <a:solidFill>
              <a:srgbClr val="39D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315131" y="2954985"/>
            <a:ext cx="146304" cy="146304"/>
          </a:xfrm>
          <a:prstGeom prst="ellipse">
            <a:avLst/>
          </a:prstGeom>
          <a:solidFill>
            <a:srgbClr val="8B7CFF"/>
          </a:solidFill>
          <a:ln w="12700">
            <a:solidFill>
              <a:srgbClr val="8B7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216269" y="2026605"/>
            <a:ext cx="192024" cy="192024"/>
          </a:xfrm>
          <a:prstGeom prst="ellipse">
            <a:avLst/>
          </a:prstGeom>
          <a:solidFill>
            <a:srgbClr val="39D8FF"/>
          </a:solidFill>
          <a:ln w="12700">
            <a:solidFill>
              <a:srgbClr val="39D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954911" y="1311109"/>
            <a:ext cx="237744" cy="237744"/>
          </a:xfrm>
          <a:prstGeom prst="ellipse">
            <a:avLst/>
          </a:prstGeom>
          <a:solidFill>
            <a:srgbClr val="8B7CFF"/>
          </a:solidFill>
          <a:ln w="12700">
            <a:solidFill>
              <a:srgbClr val="8B7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067675" y="1463687"/>
            <a:ext cx="146304" cy="146304"/>
          </a:xfrm>
          <a:prstGeom prst="ellipse">
            <a:avLst/>
          </a:prstGeom>
          <a:solidFill>
            <a:srgbClr val="39D8FF"/>
          </a:solidFill>
          <a:ln w="12700">
            <a:solidFill>
              <a:srgbClr val="39D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 flipH="1" flipV="1">
            <a:off x="8366760" y="1965960"/>
            <a:ext cx="576072" cy="1261872"/>
          </a:xfrm>
          <a:prstGeom prst="line">
            <a:avLst/>
          </a:prstGeom>
          <a:ln w="15240">
            <a:solidFill>
              <a:srgbClr val="2B36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8942832" y="2788920"/>
            <a:ext cx="82296" cy="438912"/>
          </a:xfrm>
          <a:prstGeom prst="line">
            <a:avLst/>
          </a:prstGeom>
          <a:ln w="15240">
            <a:solidFill>
              <a:srgbClr val="2B36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942832" y="3227832"/>
            <a:ext cx="740664" cy="384048"/>
          </a:xfrm>
          <a:prstGeom prst="line">
            <a:avLst/>
          </a:prstGeom>
          <a:ln w="15240">
            <a:solidFill>
              <a:srgbClr val="2B36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8430768" y="2697480"/>
            <a:ext cx="1078992" cy="1078992"/>
          </a:xfrm>
          <a:prstGeom prst="ellipse">
            <a:avLst/>
          </a:prstGeom>
          <a:solidFill>
            <a:srgbClr val="1D2742"/>
          </a:solidFill>
          <a:ln w="25400">
            <a:solidFill>
              <a:srgbClr val="39D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30768" y="2990088"/>
            <a:ext cx="10789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5F7FF"/>
                </a:solidFill>
                <a:latin typeface="Aptos"/>
              </a:rPr>
              <a:t>100M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30768" y="3300984"/>
            <a:ext cx="10789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A8B2CB"/>
                </a:solidFill>
                <a:latin typeface="Aptos"/>
              </a:rPr>
              <a:t>голосов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6656" y="612648"/>
            <a:ext cx="2011680" cy="310896"/>
          </a:xfrm>
          <a:prstGeom prst="roundRect">
            <a:avLst>
              <a:gd name="adj" fmla="val 18000"/>
            </a:avLst>
          </a:prstGeom>
          <a:solidFill>
            <a:srgbClr val="1D2742"/>
          </a:solidFill>
          <a:ln w="12700">
            <a:solidFill>
              <a:srgbClr val="1D27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621792"/>
            <a:ext cx="201168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9D8FF"/>
                </a:solidFill>
                <a:latin typeface="Aptos"/>
              </a:rPr>
              <a:t>АРХИТЕКТУРА РЕШЕНИЯ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" y="1225296"/>
            <a:ext cx="676656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5F7FF"/>
                </a:solidFill>
                <a:latin typeface="Aptos Display"/>
              </a:rPr>
              <a:t>Минутный
ТВ-опрос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3090672"/>
            <a:ext cx="6583680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A8B2CB"/>
                </a:solidFill>
                <a:latin typeface="Aptos"/>
              </a:rPr>
              <a:t>Как принять массовый пик голосов, не потерять результат
и сохранить приватность зрителей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4956048"/>
            <a:ext cx="5870448" cy="786384"/>
          </a:xfrm>
          <a:prstGeom prst="roundRect">
            <a:avLst>
              <a:gd name="adj" fmla="val 8000"/>
            </a:avLst>
          </a:prstGeom>
          <a:solidFill>
            <a:srgbClr val="151C31"/>
          </a:solidFill>
          <a:ln w="12700">
            <a:solidFill>
              <a:srgbClr val="2B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7552" y="5202936"/>
            <a:ext cx="53492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F5F7FF"/>
                </a:solidFill>
                <a:latin typeface="Aptos"/>
              </a:rPr>
              <a:t>Главная идея: </a:t>
            </a:r>
            <a:r>
              <a:rPr sz="1600" b="0">
                <a:solidFill>
                  <a:srgbClr val="39D8FF"/>
                </a:solidFill>
                <a:latin typeface="Aptos"/>
              </a:rPr>
              <a:t>Redis принимает пик, PostgreSQL сохраняет правду.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6217920"/>
            <a:ext cx="8046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A8B2CB"/>
                </a:solidFill>
                <a:latin typeface="Aptos"/>
              </a:rPr>
              <a:t>FULL-STACK MVP · FASTAPI · REDIS · POSTGRESQL · REACT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3504" y="384048"/>
            <a:ext cx="1417320" cy="310896"/>
          </a:xfrm>
          <a:prstGeom prst="roundRect">
            <a:avLst>
              <a:gd name="adj" fmla="val 18000"/>
            </a:avLst>
          </a:prstGeom>
          <a:solidFill>
            <a:srgbClr val="1D2742"/>
          </a:solidFill>
          <a:ln w="12700">
            <a:solidFill>
              <a:srgbClr val="1D27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393192"/>
            <a:ext cx="141732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9D8FF"/>
                </a:solidFill>
                <a:latin typeface="Aptos"/>
              </a:rPr>
              <a:t>КОНТЕКСТ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813816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5F7FF"/>
                </a:solidFill>
                <a:latin typeface="Aptos Display"/>
              </a:rPr>
              <a:t>Задача — принять массовый пик голосов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3504" y="1481328"/>
            <a:ext cx="10981944" cy="0"/>
          </a:xfrm>
          <a:prstGeom prst="line">
            <a:avLst/>
          </a:prstGeom>
          <a:ln w="12700">
            <a:solidFill>
              <a:srgbClr val="2B36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137392" y="6419088"/>
            <a:ext cx="4389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A8B2CB"/>
                </a:solidFill>
                <a:latin typeface="Aptos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865376"/>
            <a:ext cx="2788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5F7FF"/>
                </a:solidFill>
                <a:latin typeface="Aptos Display"/>
              </a:rPr>
              <a:t>100 млн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2459736"/>
            <a:ext cx="2926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A8B2CB"/>
                </a:solidFill>
                <a:latin typeface="Aptos"/>
              </a:rPr>
              <a:t>голосов за 60 секунд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3054096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9D8FF"/>
                </a:solidFill>
                <a:latin typeface="Aptos"/>
              </a:rPr>
              <a:t>≈ 1,7 млн RPS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3584448"/>
            <a:ext cx="301752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8B2CB"/>
                </a:solidFill>
                <a:latin typeface="Aptos"/>
              </a:rPr>
              <a:t>ориентир для архитектуры,
не результат локального теста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005072" y="1810512"/>
            <a:ext cx="0" cy="4005072"/>
          </a:xfrm>
          <a:prstGeom prst="line">
            <a:avLst/>
          </a:prstGeom>
          <a:ln w="12700">
            <a:solidFill>
              <a:srgbClr val="2B36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361688" y="2002536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9D8FF"/>
                </a:solidFill>
                <a:latin typeface="Aptos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19472" y="1956816"/>
            <a:ext cx="187451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5F7FF"/>
                </a:solidFill>
                <a:latin typeface="Aptos"/>
              </a:rPr>
              <a:t>Быстро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1956816"/>
            <a:ext cx="431596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8B2CB"/>
                </a:solidFill>
                <a:latin typeface="Aptos"/>
              </a:rPr>
              <a:t>Не обращаться к SQL на каждом голосе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361688" y="2852928"/>
            <a:ext cx="6830568" cy="0"/>
          </a:xfrm>
          <a:prstGeom prst="line">
            <a:avLst/>
          </a:prstGeom>
          <a:ln w="12700">
            <a:solidFill>
              <a:srgbClr val="2B36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361688" y="3136391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DE2A5"/>
                </a:solidFill>
                <a:latin typeface="Apto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19472" y="3090672"/>
            <a:ext cx="187451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5F7FF"/>
                </a:solidFill>
                <a:latin typeface="Aptos"/>
              </a:rPr>
              <a:t>Надёжно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3090672"/>
            <a:ext cx="431596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8B2CB"/>
                </a:solidFill>
                <a:latin typeface="Aptos"/>
              </a:rPr>
              <a:t>Не считать повтор и восстанавливать итог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361688" y="3986783"/>
            <a:ext cx="6830568" cy="0"/>
          </a:xfrm>
          <a:prstGeom prst="line">
            <a:avLst/>
          </a:prstGeom>
          <a:ln w="12700">
            <a:solidFill>
              <a:srgbClr val="2B36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361688" y="4270248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C857"/>
                </a:solidFill>
                <a:latin typeface="Apto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19472" y="4224528"/>
            <a:ext cx="187451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5F7FF"/>
                </a:solidFill>
                <a:latin typeface="Aptos"/>
              </a:rPr>
              <a:t>Приватно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4224528"/>
            <a:ext cx="431596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8B2CB"/>
                </a:solidFill>
                <a:latin typeface="Aptos"/>
              </a:rPr>
              <a:t>Без регистрации и хранения сырого IP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361688" y="5120640"/>
            <a:ext cx="6830568" cy="0"/>
          </a:xfrm>
          <a:prstGeom prst="line">
            <a:avLst/>
          </a:prstGeom>
          <a:ln w="12700">
            <a:solidFill>
              <a:srgbClr val="2B36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352544" y="5650992"/>
            <a:ext cx="6839712" cy="493776"/>
          </a:xfrm>
          <a:prstGeom prst="roundRect">
            <a:avLst>
              <a:gd name="adj" fmla="val 6000"/>
            </a:avLst>
          </a:prstGeom>
          <a:solidFill>
            <a:srgbClr val="1D2742"/>
          </a:solidFill>
          <a:ln w="12700">
            <a:solidFill>
              <a:srgbClr val="1D27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44568" y="5788152"/>
            <a:ext cx="63825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5F7FF"/>
                </a:solidFill>
                <a:latin typeface="Aptos"/>
              </a:rPr>
              <a:t>Решение: быстрый приём отдельно от надёжного хранения.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3504" y="384048"/>
            <a:ext cx="1417320" cy="310896"/>
          </a:xfrm>
          <a:prstGeom prst="roundRect">
            <a:avLst>
              <a:gd name="adj" fmla="val 18000"/>
            </a:avLst>
          </a:prstGeom>
          <a:solidFill>
            <a:srgbClr val="1D2742"/>
          </a:solidFill>
          <a:ln w="12700">
            <a:solidFill>
              <a:srgbClr val="1D27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393192"/>
            <a:ext cx="141732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9D8FF"/>
                </a:solidFill>
                <a:latin typeface="Aptos"/>
              </a:rPr>
              <a:t>АРХИТЕКТУРА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813816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5F7FF"/>
                </a:solidFill>
                <a:latin typeface="Aptos Display"/>
              </a:rPr>
              <a:t>Два контура: горячий путь и источник правды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3504" y="1481328"/>
            <a:ext cx="10981944" cy="0"/>
          </a:xfrm>
          <a:prstGeom prst="line">
            <a:avLst/>
          </a:prstGeom>
          <a:ln w="12700">
            <a:solidFill>
              <a:srgbClr val="2B36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137392" y="6419088"/>
            <a:ext cx="4389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A8B2CB"/>
                </a:solidFill>
                <a:latin typeface="Aptos"/>
              </a:rP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21408"/>
            <a:ext cx="1508760" cy="914400"/>
          </a:xfrm>
          <a:prstGeom prst="roundRect">
            <a:avLst>
              <a:gd name="adj" fmla="val 8000"/>
            </a:avLst>
          </a:prstGeom>
          <a:solidFill>
            <a:srgbClr val="151C31"/>
          </a:solidFill>
          <a:ln w="12700">
            <a:solidFill>
              <a:srgbClr val="2B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2121408"/>
            <a:ext cx="54864" cy="914400"/>
          </a:xfrm>
          <a:prstGeom prst="rect">
            <a:avLst/>
          </a:prstGeom>
          <a:solidFill>
            <a:srgbClr val="39D8FF"/>
          </a:solidFill>
          <a:ln w="12700">
            <a:solidFill>
              <a:srgbClr val="39D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2860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5F7FF"/>
                </a:solidFill>
                <a:latin typeface="Aptos"/>
              </a:rPr>
              <a:t>Зрители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651760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8B2CB"/>
                </a:solidFill>
                <a:latin typeface="Aptos"/>
              </a:rPr>
              <a:t>QR → браузер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23744" y="2121408"/>
            <a:ext cx="1408176" cy="914400"/>
          </a:xfrm>
          <a:prstGeom prst="roundRect">
            <a:avLst>
              <a:gd name="adj" fmla="val 8000"/>
            </a:avLst>
          </a:prstGeom>
          <a:solidFill>
            <a:srgbClr val="151C31"/>
          </a:solidFill>
          <a:ln w="12700">
            <a:solidFill>
              <a:srgbClr val="2B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523744" y="2121408"/>
            <a:ext cx="54864" cy="914400"/>
          </a:xfrm>
          <a:prstGeom prst="rect">
            <a:avLst/>
          </a:prstGeom>
          <a:solidFill>
            <a:srgbClr val="8B7CFF"/>
          </a:solidFill>
          <a:ln w="12700">
            <a:solidFill>
              <a:srgbClr val="8B7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52344" y="2286000"/>
            <a:ext cx="9966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5F7FF"/>
                </a:solidFill>
                <a:latin typeface="Aptos"/>
              </a:rPr>
              <a:t>Nginx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52344" y="2651760"/>
            <a:ext cx="9966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8B2CB"/>
                </a:solidFill>
                <a:latin typeface="Aptos"/>
              </a:rPr>
              <a:t>TLS · proxy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5968" y="2121408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51C31"/>
          </a:solidFill>
          <a:ln w="12700">
            <a:solidFill>
              <a:srgbClr val="2B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15968" y="2121408"/>
            <a:ext cx="54864" cy="914400"/>
          </a:xfrm>
          <a:prstGeom prst="rect">
            <a:avLst/>
          </a:prstGeom>
          <a:solidFill>
            <a:srgbClr val="39D8FF"/>
          </a:solidFill>
          <a:ln w="12700">
            <a:solidFill>
              <a:srgbClr val="39D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44568" y="2286000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5F7FF"/>
                </a:solidFill>
                <a:latin typeface="Aptos"/>
              </a:rPr>
              <a:t>FastAPI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4568" y="265176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8B2CB"/>
                </a:solidFill>
                <a:latin typeface="Aptos"/>
              </a:rPr>
              <a:t>stateless API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01968" y="1856231"/>
            <a:ext cx="2048256" cy="1426464"/>
          </a:xfrm>
          <a:prstGeom prst="roundRect">
            <a:avLst>
              <a:gd name="adj" fmla="val 8000"/>
            </a:avLst>
          </a:prstGeom>
          <a:solidFill>
            <a:srgbClr val="151C31"/>
          </a:solidFill>
          <a:ln w="12700">
            <a:solidFill>
              <a:srgbClr val="2B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601968" y="1856231"/>
            <a:ext cx="54864" cy="1426464"/>
          </a:xfrm>
          <a:prstGeom prst="rect">
            <a:avLst/>
          </a:prstGeom>
          <a:solidFill>
            <a:srgbClr val="5DE2A5"/>
          </a:solidFill>
          <a:ln w="12700">
            <a:solidFill>
              <a:srgbClr val="5DE2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30568" y="2020824"/>
            <a:ext cx="163677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5F7FF"/>
                </a:solidFill>
                <a:latin typeface="Aptos"/>
              </a:rPr>
              <a:t>Redis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30568" y="2386584"/>
            <a:ext cx="1636776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8B2CB"/>
                </a:solidFill>
                <a:latin typeface="Aptos"/>
              </a:rPr>
              <a:t>dedup · counters · cache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89720" y="1856231"/>
            <a:ext cx="2176272" cy="1426464"/>
          </a:xfrm>
          <a:prstGeom prst="roundRect">
            <a:avLst>
              <a:gd name="adj" fmla="val 8000"/>
            </a:avLst>
          </a:prstGeom>
          <a:solidFill>
            <a:srgbClr val="151C31"/>
          </a:solidFill>
          <a:ln w="12700">
            <a:solidFill>
              <a:srgbClr val="2B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89720" y="1856231"/>
            <a:ext cx="54864" cy="1426464"/>
          </a:xfrm>
          <a:prstGeom prst="rect">
            <a:avLst/>
          </a:prstGeom>
          <a:solidFill>
            <a:srgbClr val="8B7CFF"/>
          </a:solidFill>
          <a:ln w="12700">
            <a:solidFill>
              <a:srgbClr val="8B7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0" y="2020824"/>
            <a:ext cx="17647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5F7FF"/>
                </a:solidFill>
                <a:latin typeface="Aptos"/>
              </a:rPr>
              <a:t>PostgreSQL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2386584"/>
            <a:ext cx="176479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8B2CB"/>
                </a:solidFill>
                <a:latin typeface="Aptos"/>
              </a:rPr>
              <a:t>journal · CRUD · rebuild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167128" y="2578608"/>
            <a:ext cx="356616" cy="0"/>
          </a:xfrm>
          <a:prstGeom prst="line">
            <a:avLst/>
          </a:prstGeom>
          <a:ln w="25400">
            <a:solidFill>
              <a:srgbClr val="39D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3931920" y="2578608"/>
            <a:ext cx="384048" cy="0"/>
          </a:xfrm>
          <a:prstGeom prst="line">
            <a:avLst/>
          </a:prstGeom>
          <a:ln w="25400">
            <a:solidFill>
              <a:srgbClr val="39D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007608" y="2340864"/>
            <a:ext cx="594360" cy="0"/>
          </a:xfrm>
          <a:prstGeom prst="line">
            <a:avLst/>
          </a:prstGeom>
          <a:ln w="30480">
            <a:solidFill>
              <a:srgbClr val="5DE2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650224" y="2578608"/>
            <a:ext cx="539496" cy="0"/>
          </a:xfrm>
          <a:prstGeom prst="line">
            <a:avLst/>
          </a:prstGeom>
          <a:ln w="22860">
            <a:solidFill>
              <a:srgbClr val="8B7C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044184" y="1975104"/>
            <a:ext cx="493776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5DE2A5"/>
                </a:solidFill>
                <a:latin typeface="Aptos"/>
              </a:rPr>
              <a:t>HOT PATH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68512" y="2286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B2CB"/>
                </a:solidFill>
                <a:latin typeface="Aptos"/>
              </a:rPr>
              <a:t>async journal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416552"/>
            <a:ext cx="2084831" cy="969264"/>
          </a:xfrm>
          <a:prstGeom prst="roundRect">
            <a:avLst>
              <a:gd name="adj" fmla="val 8000"/>
            </a:avLst>
          </a:prstGeom>
          <a:solidFill>
            <a:srgbClr val="151C31"/>
          </a:solidFill>
          <a:ln w="12700">
            <a:solidFill>
              <a:srgbClr val="2B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416552"/>
            <a:ext cx="54864" cy="969264"/>
          </a:xfrm>
          <a:prstGeom prst="rect">
            <a:avLst/>
          </a:prstGeom>
          <a:solidFill>
            <a:srgbClr val="FFC857"/>
          </a:solidFill>
          <a:ln w="12700"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6968" y="4581144"/>
            <a:ext cx="167335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5F7FF"/>
                </a:solidFill>
                <a:latin typeface="Aptos"/>
              </a:rPr>
              <a:t>Администратор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6968" y="4946904"/>
            <a:ext cx="167335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8B2CB"/>
                </a:solidFill>
                <a:latin typeface="Aptos"/>
              </a:rPr>
              <a:t>CRUD · QR · live result</a:t>
            </a:r>
          </a:p>
        </p:txBody>
      </p:sp>
      <p:cxnSp>
        <p:nvCxnSpPr>
          <p:cNvPr id="37" name="Connector 36"/>
          <p:cNvCxnSpPr/>
          <p:nvPr/>
        </p:nvCxnSpPr>
        <p:spPr>
          <a:xfrm flipV="1">
            <a:off x="2743200" y="2880360"/>
            <a:ext cx="1572768" cy="2011680"/>
          </a:xfrm>
          <a:prstGeom prst="line">
            <a:avLst/>
          </a:prstGeom>
          <a:ln w="19050">
            <a:solidFill>
              <a:srgbClr val="FFC8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4315968" y="4224528"/>
            <a:ext cx="7050024" cy="1408176"/>
          </a:xfrm>
          <a:prstGeom prst="roundRect">
            <a:avLst>
              <a:gd name="adj" fmla="val 8000"/>
            </a:avLst>
          </a:prstGeom>
          <a:solidFill>
            <a:srgbClr val="151C31"/>
          </a:solidFill>
          <a:ln w="12700">
            <a:solidFill>
              <a:srgbClr val="2B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99432" y="4443984"/>
            <a:ext cx="2560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5F7FF"/>
                </a:solidFill>
                <a:latin typeface="Aptos"/>
              </a:rPr>
              <a:t>Почему это масштабируется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17720" y="4901184"/>
            <a:ext cx="78638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9D8FF"/>
                </a:solidFill>
                <a:latin typeface="Aptos"/>
              </a:rPr>
              <a:t>API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17720" y="5175504"/>
            <a:ext cx="1920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8B2CB"/>
                </a:solidFill>
                <a:latin typeface="Aptos"/>
              </a:rPr>
              <a:t>без локального состояния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12279" y="4901184"/>
            <a:ext cx="78638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DE2A5"/>
                </a:solidFill>
                <a:latin typeface="Aptos"/>
              </a:rPr>
              <a:t>Redis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79" y="5175504"/>
            <a:ext cx="1920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8B2CB"/>
                </a:solidFill>
                <a:latin typeface="Aptos"/>
              </a:rPr>
              <a:t>поглощает короткий пик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06840" y="4901184"/>
            <a:ext cx="78638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8B7CFF"/>
                </a:solidFill>
                <a:latin typeface="Aptos"/>
              </a:rPr>
              <a:t>Postgres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06840" y="5175504"/>
            <a:ext cx="1920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8B2CB"/>
                </a:solidFill>
                <a:latin typeface="Aptos"/>
              </a:rPr>
              <a:t>восстанавливает итог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6656" y="6071616"/>
            <a:ext cx="9875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5F7FF"/>
                </a:solidFill>
                <a:latin typeface="Aptos"/>
              </a:rPr>
              <a:t>Редкие admin-операции и массовое голосование не конкурируют за один путь.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3504" y="384048"/>
            <a:ext cx="1417320" cy="310896"/>
          </a:xfrm>
          <a:prstGeom prst="roundRect">
            <a:avLst>
              <a:gd name="adj" fmla="val 18000"/>
            </a:avLst>
          </a:prstGeom>
          <a:solidFill>
            <a:srgbClr val="1D2742"/>
          </a:solidFill>
          <a:ln w="12700">
            <a:solidFill>
              <a:srgbClr val="1D27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393192"/>
            <a:ext cx="141732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9D8FF"/>
                </a:solidFill>
                <a:latin typeface="Aptos"/>
              </a:rPr>
              <a:t>HOT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813816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5F7FF"/>
                </a:solidFill>
                <a:latin typeface="Aptos Display"/>
              </a:rPr>
              <a:t>Как принимается один голос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3504" y="1481328"/>
            <a:ext cx="10981944" cy="0"/>
          </a:xfrm>
          <a:prstGeom prst="line">
            <a:avLst/>
          </a:prstGeom>
          <a:ln w="12700">
            <a:solidFill>
              <a:srgbClr val="2B36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137392" y="6419088"/>
            <a:ext cx="4389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A8B2CB"/>
                </a:solidFill>
                <a:latin typeface="Aptos"/>
              </a:rPr>
              <a:t>04</a:t>
            </a:r>
          </a:p>
        </p:txBody>
      </p:sp>
      <p:sp>
        <p:nvSpPr>
          <p:cNvPr id="7" name="Oval 6"/>
          <p:cNvSpPr/>
          <p:nvPr/>
        </p:nvSpPr>
        <p:spPr>
          <a:xfrm>
            <a:off x="1490472" y="1901952"/>
            <a:ext cx="384048" cy="384048"/>
          </a:xfrm>
          <a:prstGeom prst="ellipse">
            <a:avLst/>
          </a:prstGeom>
          <a:solidFill>
            <a:srgbClr val="39D8FF"/>
          </a:solidFill>
          <a:ln w="12700">
            <a:solidFill>
              <a:srgbClr val="39D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90472" y="1906524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B1020"/>
                </a:solidFill>
                <a:latin typeface="Aptos"/>
              </a:rPr>
              <a:t>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883664" y="2093976"/>
            <a:ext cx="1783080" cy="0"/>
          </a:xfrm>
          <a:prstGeom prst="line">
            <a:avLst/>
          </a:prstGeom>
          <a:ln w="25400">
            <a:solidFill>
              <a:srgbClr val="2B36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68680" y="2487168"/>
            <a:ext cx="16276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5F7FF"/>
                </a:solidFill>
                <a:latin typeface="Aptos"/>
              </a:rPr>
              <a:t>Запрос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2825496"/>
            <a:ext cx="1847088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8B2CB"/>
                </a:solidFill>
                <a:latin typeface="Aptos"/>
              </a:rPr>
              <a:t>question · option · vid</a:t>
            </a:r>
          </a:p>
        </p:txBody>
      </p:sp>
      <p:sp>
        <p:nvSpPr>
          <p:cNvPr id="12" name="Oval 11"/>
          <p:cNvSpPr/>
          <p:nvPr/>
        </p:nvSpPr>
        <p:spPr>
          <a:xfrm>
            <a:off x="3675887" y="1901952"/>
            <a:ext cx="384048" cy="384048"/>
          </a:xfrm>
          <a:prstGeom prst="ellipse">
            <a:avLst/>
          </a:prstGeom>
          <a:solidFill>
            <a:srgbClr val="39D8FF"/>
          </a:solidFill>
          <a:ln w="12700">
            <a:solidFill>
              <a:srgbClr val="39D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75887" y="1906524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B1020"/>
                </a:solidFill>
                <a:latin typeface="Aptos"/>
              </a:rPr>
              <a:t>2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069080" y="2093976"/>
            <a:ext cx="1783080" cy="0"/>
          </a:xfrm>
          <a:prstGeom prst="line">
            <a:avLst/>
          </a:prstGeom>
          <a:ln w="25400">
            <a:solidFill>
              <a:srgbClr val="2B36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054096" y="2487168"/>
            <a:ext cx="16276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5F7FF"/>
                </a:solidFill>
                <a:latin typeface="Aptos"/>
              </a:rPr>
              <a:t>Проверка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44368" y="2825496"/>
            <a:ext cx="1847088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8B2CB"/>
                </a:solidFill>
                <a:latin typeface="Aptos"/>
              </a:rPr>
              <a:t>статус · время · вариант</a:t>
            </a:r>
          </a:p>
        </p:txBody>
      </p:sp>
      <p:sp>
        <p:nvSpPr>
          <p:cNvPr id="17" name="Oval 16"/>
          <p:cNvSpPr/>
          <p:nvPr/>
        </p:nvSpPr>
        <p:spPr>
          <a:xfrm>
            <a:off x="5861304" y="1901952"/>
            <a:ext cx="384048" cy="384048"/>
          </a:xfrm>
          <a:prstGeom prst="ellipse">
            <a:avLst/>
          </a:prstGeom>
          <a:solidFill>
            <a:srgbClr val="39D8FF"/>
          </a:solidFill>
          <a:ln w="12700">
            <a:solidFill>
              <a:srgbClr val="39D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61304" y="1906524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B1020"/>
                </a:solidFill>
                <a:latin typeface="Aptos"/>
              </a:rPr>
              <a:t>3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254496" y="2093976"/>
            <a:ext cx="1783079" cy="0"/>
          </a:xfrm>
          <a:prstGeom prst="line">
            <a:avLst/>
          </a:prstGeom>
          <a:ln w="25400">
            <a:solidFill>
              <a:srgbClr val="2B36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239512" y="2487168"/>
            <a:ext cx="16276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5F7FF"/>
                </a:solidFill>
                <a:latin typeface="Aptos"/>
              </a:rPr>
              <a:t>Dedup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9784" y="2825496"/>
            <a:ext cx="1847088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8B2CB"/>
                </a:solidFill>
                <a:latin typeface="Aptos"/>
              </a:rPr>
              <a:t>хеш question + vid</a:t>
            </a:r>
          </a:p>
        </p:txBody>
      </p:sp>
      <p:sp>
        <p:nvSpPr>
          <p:cNvPr id="22" name="Oval 21"/>
          <p:cNvSpPr/>
          <p:nvPr/>
        </p:nvSpPr>
        <p:spPr>
          <a:xfrm>
            <a:off x="8046719" y="1901952"/>
            <a:ext cx="384048" cy="384048"/>
          </a:xfrm>
          <a:prstGeom prst="ellipse">
            <a:avLst/>
          </a:prstGeom>
          <a:solidFill>
            <a:srgbClr val="5DE2A5"/>
          </a:solidFill>
          <a:ln w="12700">
            <a:solidFill>
              <a:srgbClr val="5DE2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19" y="1906524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B1020"/>
                </a:solidFill>
                <a:latin typeface="Aptos"/>
              </a:rPr>
              <a:t>4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439911" y="2093976"/>
            <a:ext cx="1783081" cy="0"/>
          </a:xfrm>
          <a:prstGeom prst="line">
            <a:avLst/>
          </a:prstGeom>
          <a:ln w="25400">
            <a:solidFill>
              <a:srgbClr val="2B36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424927" y="2487168"/>
            <a:ext cx="16276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5F7FF"/>
                </a:solidFill>
                <a:latin typeface="Aptos"/>
              </a:rPr>
              <a:t>Lua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199" y="2825496"/>
            <a:ext cx="1847088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8B2CB"/>
                </a:solidFill>
                <a:latin typeface="Aptos"/>
              </a:rPr>
              <a:t>проверка + инкремент</a:t>
            </a:r>
          </a:p>
        </p:txBody>
      </p:sp>
      <p:sp>
        <p:nvSpPr>
          <p:cNvPr id="27" name="Oval 26"/>
          <p:cNvSpPr/>
          <p:nvPr/>
        </p:nvSpPr>
        <p:spPr>
          <a:xfrm>
            <a:off x="10232136" y="1901952"/>
            <a:ext cx="384048" cy="384048"/>
          </a:xfrm>
          <a:prstGeom prst="ellipse">
            <a:avLst/>
          </a:prstGeom>
          <a:solidFill>
            <a:srgbClr val="5DE2A5"/>
          </a:solidFill>
          <a:ln w="12700">
            <a:solidFill>
              <a:srgbClr val="5DE2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232136" y="1906524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B1020"/>
                </a:solidFill>
                <a:latin typeface="Aptos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10344" y="2487168"/>
            <a:ext cx="16276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5F7FF"/>
                </a:solidFill>
                <a:latin typeface="Aptos"/>
              </a:rPr>
              <a:t>Ответ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00616" y="2825496"/>
            <a:ext cx="1847088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8B2CB"/>
                </a:solidFill>
                <a:latin typeface="Aptos"/>
              </a:rPr>
              <a:t>201 или 409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32688" y="3831336"/>
            <a:ext cx="10314432" cy="1408176"/>
          </a:xfrm>
          <a:prstGeom prst="roundRect">
            <a:avLst>
              <a:gd name="adj" fmla="val 8000"/>
            </a:avLst>
          </a:prstGeom>
          <a:solidFill>
            <a:srgbClr val="151C31"/>
          </a:solidFill>
          <a:ln w="12700">
            <a:solidFill>
              <a:srgbClr val="2B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43584" y="4114800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DE2A5"/>
                </a:solidFill>
                <a:latin typeface="Aptos"/>
              </a:rPr>
              <a:t>АТОМАРНАЯ ОПЕРАЦИЯ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70632" y="4041648"/>
            <a:ext cx="13898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5F7FF"/>
                </a:solidFill>
                <a:latin typeface="Aptos"/>
              </a:rPr>
              <a:t>EXISTS dedup?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169663" y="4224528"/>
            <a:ext cx="566929" cy="0"/>
          </a:xfrm>
          <a:prstGeom prst="line">
            <a:avLst/>
          </a:prstGeom>
          <a:ln w="25400">
            <a:solidFill>
              <a:srgbClr val="2B36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4754880" y="3977639"/>
            <a:ext cx="2926080" cy="530352"/>
          </a:xfrm>
          <a:prstGeom prst="roundRect">
            <a:avLst>
              <a:gd name="adj" fmla="val 8000"/>
            </a:avLst>
          </a:prstGeom>
          <a:solidFill>
            <a:srgbClr val="1D2742"/>
          </a:solidFill>
          <a:ln w="12700">
            <a:solidFill>
              <a:srgbClr val="5DE2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54880" y="4133087"/>
            <a:ext cx="2926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5DE2A5"/>
                </a:solidFill>
                <a:latin typeface="Aptos"/>
              </a:rPr>
              <a:t>SET dedup EX ttl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699248" y="4224528"/>
            <a:ext cx="557783" cy="0"/>
          </a:xfrm>
          <a:prstGeom prst="line">
            <a:avLst/>
          </a:prstGeom>
          <a:ln w="25400">
            <a:solidFill>
              <a:srgbClr val="2B36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8302752" y="4041648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5F7FF"/>
                </a:solidFill>
                <a:latin typeface="Aptos"/>
              </a:rPr>
              <a:t>HINCRBY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61488" y="4681728"/>
            <a:ext cx="14081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6B7A"/>
                </a:solidFill>
                <a:latin typeface="Aptos"/>
              </a:rPr>
              <a:t>повтор → 409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02752" y="4681728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DE2A5"/>
                </a:solidFill>
                <a:latin typeface="Aptos"/>
              </a:rPr>
              <a:t>новый голос → 201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1832" y="5687568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5F7FF"/>
                </a:solidFill>
                <a:latin typeface="Aptos"/>
              </a:rPr>
              <a:t>Lua атомарно отмечает зрителя и увеличивает счётчик.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710928" y="5614416"/>
            <a:ext cx="1536192" cy="310896"/>
          </a:xfrm>
          <a:prstGeom prst="roundRect">
            <a:avLst>
              <a:gd name="adj" fmla="val 18000"/>
            </a:avLst>
          </a:prstGeom>
          <a:solidFill>
            <a:srgbClr val="1D2742"/>
          </a:solidFill>
          <a:ln w="12700">
            <a:solidFill>
              <a:srgbClr val="1D27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710928" y="5623559"/>
            <a:ext cx="1536192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9D8FF"/>
                </a:solidFill>
                <a:latin typeface="Aptos"/>
              </a:rPr>
              <a:t>O(1) НА ГОЛОС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3504" y="384048"/>
            <a:ext cx="1417320" cy="310896"/>
          </a:xfrm>
          <a:prstGeom prst="roundRect">
            <a:avLst>
              <a:gd name="adj" fmla="val 18000"/>
            </a:avLst>
          </a:prstGeom>
          <a:solidFill>
            <a:srgbClr val="1D2742"/>
          </a:solidFill>
          <a:ln w="12700">
            <a:solidFill>
              <a:srgbClr val="1D27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393192"/>
            <a:ext cx="141732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9D8FF"/>
                </a:solidFill>
                <a:latin typeface="Aptos"/>
              </a:rPr>
              <a:t>ДЕМО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813816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5F7FF"/>
                </a:solidFill>
                <a:latin typeface="Aptos Display"/>
              </a:rPr>
              <a:t>Демонстрация проекта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3504" y="1481328"/>
            <a:ext cx="10981944" cy="0"/>
          </a:xfrm>
          <a:prstGeom prst="line">
            <a:avLst/>
          </a:prstGeom>
          <a:ln w="12700">
            <a:solidFill>
              <a:srgbClr val="2B36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137392" y="6419088"/>
            <a:ext cx="4389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A8B2CB"/>
                </a:solidFill>
                <a:latin typeface="Aptos"/>
              </a:rP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7452360" cy="4370832"/>
          </a:xfrm>
          <a:prstGeom prst="roundRect">
            <a:avLst>
              <a:gd name="adj" fmla="val 8000"/>
            </a:avLst>
          </a:prstGeom>
          <a:solidFill>
            <a:srgbClr val="151C31"/>
          </a:solidFill>
          <a:ln w="19050">
            <a:solidFill>
              <a:srgbClr val="39D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767328" y="3127248"/>
            <a:ext cx="1078992" cy="1078992"/>
          </a:xfrm>
          <a:prstGeom prst="ellipse">
            <a:avLst/>
          </a:prstGeom>
          <a:solidFill>
            <a:srgbClr val="39D8FF"/>
          </a:solidFill>
          <a:ln w="12700">
            <a:solidFill>
              <a:srgbClr val="39D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31336" y="3355848"/>
            <a:ext cx="9144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1020"/>
                </a:solidFill>
                <a:latin typeface="Aptos"/>
              </a:rPr>
              <a:t>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91056" y="4498848"/>
            <a:ext cx="55961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5F7FF"/>
                </a:solidFill>
                <a:latin typeface="Aptos"/>
              </a:rPr>
              <a:t>ВСТАВЬТЕ ВИДЕО ПРОЕКТА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91056" y="4928616"/>
            <a:ext cx="55961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8B2CB"/>
                </a:solidFill>
                <a:latin typeface="Aptos"/>
              </a:rPr>
              <a:t>Рекомендуемая длительность: 60–90 секунд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86216" y="1847088"/>
            <a:ext cx="2194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5F7FF"/>
                </a:solidFill>
                <a:latin typeface="Aptos"/>
              </a:rPr>
              <a:t>Что показать</a:t>
            </a:r>
          </a:p>
        </p:txBody>
      </p:sp>
      <p:sp>
        <p:nvSpPr>
          <p:cNvPr id="13" name="Oval 12"/>
          <p:cNvSpPr/>
          <p:nvPr/>
        </p:nvSpPr>
        <p:spPr>
          <a:xfrm>
            <a:off x="8586216" y="2496312"/>
            <a:ext cx="384048" cy="384048"/>
          </a:xfrm>
          <a:prstGeom prst="ellipse">
            <a:avLst/>
          </a:prstGeom>
          <a:solidFill>
            <a:srgbClr val="39D8FF"/>
          </a:solidFill>
          <a:ln w="12700">
            <a:solidFill>
              <a:srgbClr val="39D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86216" y="2500884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B1020"/>
                </a:solidFill>
                <a:latin typeface="Aptos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62288" y="2551176"/>
            <a:ext cx="23317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5F7FF"/>
                </a:solidFill>
                <a:latin typeface="Aptos"/>
              </a:rPr>
              <a:t>Админ создаёт опрос</a:t>
            </a:r>
          </a:p>
        </p:txBody>
      </p:sp>
      <p:sp>
        <p:nvSpPr>
          <p:cNvPr id="16" name="Oval 15"/>
          <p:cNvSpPr/>
          <p:nvPr/>
        </p:nvSpPr>
        <p:spPr>
          <a:xfrm>
            <a:off x="8586216" y="3246120"/>
            <a:ext cx="384048" cy="384048"/>
          </a:xfrm>
          <a:prstGeom prst="ellipse">
            <a:avLst/>
          </a:prstGeom>
          <a:solidFill>
            <a:srgbClr val="39D8FF"/>
          </a:solidFill>
          <a:ln w="12700">
            <a:solidFill>
              <a:srgbClr val="39D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86216" y="3250691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B1020"/>
                </a:solidFill>
                <a:latin typeface="Apto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62288" y="3300984"/>
            <a:ext cx="23317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5F7FF"/>
                </a:solidFill>
                <a:latin typeface="Aptos"/>
              </a:rPr>
              <a:t>Зритель голосует по QR</a:t>
            </a:r>
          </a:p>
        </p:txBody>
      </p:sp>
      <p:sp>
        <p:nvSpPr>
          <p:cNvPr id="19" name="Oval 18"/>
          <p:cNvSpPr/>
          <p:nvPr/>
        </p:nvSpPr>
        <p:spPr>
          <a:xfrm>
            <a:off x="8586216" y="3995928"/>
            <a:ext cx="384048" cy="384048"/>
          </a:xfrm>
          <a:prstGeom prst="ellipse">
            <a:avLst/>
          </a:prstGeom>
          <a:solidFill>
            <a:srgbClr val="5DE2A5"/>
          </a:solidFill>
          <a:ln w="12700">
            <a:solidFill>
              <a:srgbClr val="5DE2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86216" y="4000500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B1020"/>
                </a:solidFill>
                <a:latin typeface="Apto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62288" y="4050791"/>
            <a:ext cx="23317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5F7FF"/>
                </a:solidFill>
                <a:latin typeface="Aptos"/>
              </a:rPr>
              <a:t>Результат обновляется live</a:t>
            </a:r>
          </a:p>
        </p:txBody>
      </p:sp>
      <p:sp>
        <p:nvSpPr>
          <p:cNvPr id="22" name="Oval 21"/>
          <p:cNvSpPr/>
          <p:nvPr/>
        </p:nvSpPr>
        <p:spPr>
          <a:xfrm>
            <a:off x="8586216" y="4745736"/>
            <a:ext cx="384048" cy="384048"/>
          </a:xfrm>
          <a:prstGeom prst="ellipse">
            <a:avLst/>
          </a:prstGeom>
          <a:solidFill>
            <a:srgbClr val="5DE2A5"/>
          </a:solidFill>
          <a:ln w="12700">
            <a:solidFill>
              <a:srgbClr val="5DE2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86216" y="4750307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B1020"/>
                </a:solidFill>
                <a:latin typeface="Aptos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62288" y="4800599"/>
            <a:ext cx="23317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5F7FF"/>
                </a:solidFill>
                <a:latin typeface="Aptos"/>
              </a:rPr>
              <a:t>Повторный голос отклонён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567928" y="5696712"/>
            <a:ext cx="2926080" cy="466344"/>
          </a:xfrm>
          <a:prstGeom prst="roundRect">
            <a:avLst>
              <a:gd name="adj" fmla="val 6000"/>
            </a:avLst>
          </a:prstGeom>
          <a:solidFill>
            <a:srgbClr val="1D2742"/>
          </a:solidFill>
          <a:ln w="12700">
            <a:solidFill>
              <a:srgbClr val="1D27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69096" y="5824728"/>
            <a:ext cx="25237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B2CB"/>
                </a:solidFill>
                <a:latin typeface="Aptos"/>
              </a:rPr>
              <a:t>Видео заменяет длинный рассказ о UI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3504" y="384048"/>
            <a:ext cx="1417320" cy="310896"/>
          </a:xfrm>
          <a:prstGeom prst="roundRect">
            <a:avLst>
              <a:gd name="adj" fmla="val 18000"/>
            </a:avLst>
          </a:prstGeom>
          <a:solidFill>
            <a:srgbClr val="1D2742"/>
          </a:solidFill>
          <a:ln w="12700">
            <a:solidFill>
              <a:srgbClr val="1D27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393192"/>
            <a:ext cx="141732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9D8FF"/>
                </a:solidFill>
                <a:latin typeface="Aptos"/>
              </a:rPr>
              <a:t>ДАННЫЕ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813816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5F7FF"/>
                </a:solidFill>
                <a:latin typeface="Aptos Display"/>
              </a:rPr>
              <a:t>Где хранятся данные и результаты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3504" y="1481328"/>
            <a:ext cx="10981944" cy="0"/>
          </a:xfrm>
          <a:prstGeom prst="line">
            <a:avLst/>
          </a:prstGeom>
          <a:ln w="12700">
            <a:solidFill>
              <a:srgbClr val="2B36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137392" y="6419088"/>
            <a:ext cx="4389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A8B2CB"/>
                </a:solidFill>
                <a:latin typeface="Aptos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9222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5DE2A5"/>
                </a:solidFill>
                <a:latin typeface="Aptos"/>
              </a:rPr>
              <a:t>REDIS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28816" y="179222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B7CFF"/>
                </a:solidFill>
                <a:latin typeface="Aptos"/>
              </a:rPr>
              <a:t>POSTGRESQL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212848"/>
            <a:ext cx="4919472" cy="713232"/>
          </a:xfrm>
          <a:prstGeom prst="roundRect">
            <a:avLst>
              <a:gd name="adj" fmla="val 6000"/>
            </a:avLst>
          </a:prstGeom>
          <a:solidFill>
            <a:srgbClr val="151C31"/>
          </a:solidFill>
          <a:ln w="12700">
            <a:solidFill>
              <a:srgbClr val="2B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359152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5F7FF"/>
                </a:solidFill>
                <a:latin typeface="Aptos"/>
              </a:rPr>
              <a:t>question:{id}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27248" y="2377440"/>
            <a:ext cx="214884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8B2CB"/>
                </a:solidFill>
                <a:latin typeface="Aptos"/>
              </a:rPr>
              <a:t>публичная карточка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" y="3154680"/>
            <a:ext cx="4919472" cy="713232"/>
          </a:xfrm>
          <a:prstGeom prst="roundRect">
            <a:avLst>
              <a:gd name="adj" fmla="val 6000"/>
            </a:avLst>
          </a:prstGeom>
          <a:solidFill>
            <a:srgbClr val="151C31"/>
          </a:solidFill>
          <a:ln w="12700">
            <a:solidFill>
              <a:srgbClr val="2B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3300984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5F7FF"/>
                </a:solidFill>
                <a:latin typeface="Aptos"/>
              </a:rPr>
              <a:t>vote:{q}:{hash}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27248" y="3319272"/>
            <a:ext cx="214884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8B2CB"/>
                </a:solidFill>
                <a:latin typeface="Aptos"/>
              </a:rPr>
              <a:t>dedup с TTL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6656" y="4096512"/>
            <a:ext cx="4919472" cy="713232"/>
          </a:xfrm>
          <a:prstGeom prst="roundRect">
            <a:avLst>
              <a:gd name="adj" fmla="val 6000"/>
            </a:avLst>
          </a:prstGeom>
          <a:solidFill>
            <a:srgbClr val="151C31"/>
          </a:solidFill>
          <a:ln w="12700">
            <a:solidFill>
              <a:srgbClr val="2B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42816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5F7FF"/>
                </a:solidFill>
                <a:latin typeface="Aptos"/>
              </a:rPr>
              <a:t>results:{q}:{shard}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27248" y="4261104"/>
            <a:ext cx="214884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8B2CB"/>
                </a:solidFill>
                <a:latin typeface="Aptos"/>
              </a:rPr>
              <a:t>счётчики вариантов</a:t>
            </a:r>
          </a:p>
        </p:txBody>
      </p:sp>
      <p:sp>
        <p:nvSpPr>
          <p:cNvPr id="18" name="Oval 17"/>
          <p:cNvSpPr/>
          <p:nvPr/>
        </p:nvSpPr>
        <p:spPr>
          <a:xfrm>
            <a:off x="6537960" y="2286000"/>
            <a:ext cx="283464" cy="283464"/>
          </a:xfrm>
          <a:prstGeom prst="ellipse">
            <a:avLst/>
          </a:prstGeom>
          <a:solidFill>
            <a:srgbClr val="8B7CFF"/>
          </a:solidFill>
          <a:ln w="12700">
            <a:solidFill>
              <a:srgbClr val="8B7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95160" y="2221991"/>
            <a:ext cx="19019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5F7FF"/>
                </a:solidFill>
                <a:latin typeface="Aptos"/>
              </a:rPr>
              <a:t>question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97112" y="2231136"/>
            <a:ext cx="226771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8B2CB"/>
                </a:solidFill>
                <a:latin typeface="Aptos"/>
              </a:rPr>
              <a:t>статус и окно эфира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684264" y="2569464"/>
            <a:ext cx="0" cy="411480"/>
          </a:xfrm>
          <a:prstGeom prst="line">
            <a:avLst/>
          </a:prstGeom>
          <a:ln w="12700">
            <a:solidFill>
              <a:srgbClr val="2B36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6537960" y="2990088"/>
            <a:ext cx="283464" cy="283464"/>
          </a:xfrm>
          <a:prstGeom prst="ellipse">
            <a:avLst/>
          </a:prstGeom>
          <a:solidFill>
            <a:srgbClr val="8B7CFF"/>
          </a:solidFill>
          <a:ln w="12700">
            <a:solidFill>
              <a:srgbClr val="8B7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95160" y="2926079"/>
            <a:ext cx="19019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5F7FF"/>
                </a:solidFill>
                <a:latin typeface="Aptos"/>
              </a:rPr>
              <a:t>question_option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97112" y="2935224"/>
            <a:ext cx="226771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8B2CB"/>
                </a:solidFill>
                <a:latin typeface="Aptos"/>
              </a:rPr>
              <a:t>варианты ответа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684264" y="3273552"/>
            <a:ext cx="0" cy="411480"/>
          </a:xfrm>
          <a:prstGeom prst="line">
            <a:avLst/>
          </a:prstGeom>
          <a:ln w="12700">
            <a:solidFill>
              <a:srgbClr val="2B36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6537960" y="3694176"/>
            <a:ext cx="283464" cy="283464"/>
          </a:xfrm>
          <a:prstGeom prst="ellipse">
            <a:avLst/>
          </a:prstGeom>
          <a:solidFill>
            <a:srgbClr val="8B7CFF"/>
          </a:solidFill>
          <a:ln w="12700">
            <a:solidFill>
              <a:srgbClr val="8B7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95160" y="3630168"/>
            <a:ext cx="19019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5F7FF"/>
                </a:solidFill>
                <a:latin typeface="Aptos"/>
              </a:rPr>
              <a:t>vote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97112" y="3639312"/>
            <a:ext cx="226771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8B2CB"/>
                </a:solidFill>
                <a:latin typeface="Aptos"/>
              </a:rPr>
              <a:t>append-only журнал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684264" y="3977639"/>
            <a:ext cx="0" cy="411481"/>
          </a:xfrm>
          <a:prstGeom prst="line">
            <a:avLst/>
          </a:prstGeom>
          <a:ln w="12700">
            <a:solidFill>
              <a:srgbClr val="2B36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6537960" y="4398264"/>
            <a:ext cx="283464" cy="283464"/>
          </a:xfrm>
          <a:prstGeom prst="ellipse">
            <a:avLst/>
          </a:prstGeom>
          <a:solidFill>
            <a:srgbClr val="8B7CFF"/>
          </a:solidFill>
          <a:ln w="12700">
            <a:solidFill>
              <a:srgbClr val="8B7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95160" y="4334256"/>
            <a:ext cx="19019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5F7FF"/>
                </a:solidFill>
                <a:latin typeface="Aptos"/>
              </a:rPr>
              <a:t>question_result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97112" y="4343400"/>
            <a:ext cx="226771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8B2CB"/>
                </a:solidFill>
                <a:latin typeface="Aptos"/>
              </a:rPr>
              <a:t>финальный снимок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62472" y="2084831"/>
            <a:ext cx="0" cy="3017521"/>
          </a:xfrm>
          <a:prstGeom prst="line">
            <a:avLst/>
          </a:prstGeom>
          <a:ln w="12700">
            <a:solidFill>
              <a:srgbClr val="2B36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76656" y="5431536"/>
            <a:ext cx="10497312" cy="576072"/>
          </a:xfrm>
          <a:prstGeom prst="roundRect">
            <a:avLst>
              <a:gd name="adj" fmla="val 8000"/>
            </a:avLst>
          </a:prstGeom>
          <a:solidFill>
            <a:srgbClr val="1D2742"/>
          </a:solidFill>
          <a:ln w="12700">
            <a:solidFill>
              <a:srgbClr val="1D27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1832" y="5614416"/>
            <a:ext cx="10012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F7FF"/>
                </a:solidFill>
                <a:latin typeface="Aptos"/>
              </a:rPr>
              <a:t>Приватность: </a:t>
            </a:r>
            <a:r>
              <a:rPr sz="1300" b="0">
                <a:solidFill>
                  <a:srgbClr val="A8B2CB"/>
                </a:solidFill>
                <a:latin typeface="Aptos"/>
              </a:rPr>
              <a:t>cookie vid — браузер, не человек · IP хранится только как salted hash · </a:t>
            </a:r>
            <a:r>
              <a:rPr sz="1300" b="1">
                <a:solidFill>
                  <a:srgbClr val="FFC857"/>
                </a:solidFill>
                <a:latin typeface="Aptos"/>
              </a:rPr>
              <a:t>ограничение: cookie ≠ антибот.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3504" y="384048"/>
            <a:ext cx="1417320" cy="310896"/>
          </a:xfrm>
          <a:prstGeom prst="roundRect">
            <a:avLst>
              <a:gd name="adj" fmla="val 18000"/>
            </a:avLst>
          </a:prstGeom>
          <a:solidFill>
            <a:srgbClr val="1D2742"/>
          </a:solidFill>
          <a:ln w="12700">
            <a:solidFill>
              <a:srgbClr val="1D27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393192"/>
            <a:ext cx="141732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9D8FF"/>
                </a:solidFill>
                <a:latin typeface="Aptos"/>
              </a:rPr>
              <a:t>КАЧЕСТВО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813816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5F7FF"/>
                </a:solidFill>
                <a:latin typeface="Aptos Display"/>
              </a:rPr>
              <a:t>Как проверяется решение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3504" y="1481328"/>
            <a:ext cx="10981944" cy="0"/>
          </a:xfrm>
          <a:prstGeom prst="line">
            <a:avLst/>
          </a:prstGeom>
          <a:ln w="12700">
            <a:solidFill>
              <a:srgbClr val="2B36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137392" y="6419088"/>
            <a:ext cx="4389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A8B2CB"/>
                </a:solidFill>
                <a:latin typeface="Aptos"/>
              </a:rPr>
              <a:t>07</a:t>
            </a:r>
          </a:p>
        </p:txBody>
      </p:sp>
      <p:sp>
        <p:nvSpPr>
          <p:cNvPr id="7" name="Oval 6"/>
          <p:cNvSpPr/>
          <p:nvPr/>
        </p:nvSpPr>
        <p:spPr>
          <a:xfrm>
            <a:off x="1682495" y="1874519"/>
            <a:ext cx="530352" cy="530352"/>
          </a:xfrm>
          <a:prstGeom prst="ellipse">
            <a:avLst/>
          </a:prstGeom>
          <a:solidFill>
            <a:srgbClr val="5DE2A5"/>
          </a:solidFill>
          <a:ln w="12700">
            <a:solidFill>
              <a:srgbClr val="5DE2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82495" y="1975104"/>
            <a:ext cx="530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B1020"/>
                </a:solidFill>
                <a:latin typeface="Aptos"/>
              </a:rPr>
              <a:t>✓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221991" y="2139696"/>
            <a:ext cx="1417321" cy="0"/>
          </a:xfrm>
          <a:prstGeom prst="line">
            <a:avLst/>
          </a:prstGeom>
          <a:ln w="25400">
            <a:solidFill>
              <a:srgbClr val="2B36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96112" y="26151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5F7FF"/>
                </a:solidFill>
                <a:latin typeface="Aptos"/>
              </a:rPr>
              <a:t>Unit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5351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8B2CB"/>
                </a:solidFill>
                <a:latin typeface="Aptos"/>
              </a:rPr>
              <a:t>логика backend</a:t>
            </a:r>
          </a:p>
        </p:txBody>
      </p:sp>
      <p:sp>
        <p:nvSpPr>
          <p:cNvPr id="12" name="Oval 11"/>
          <p:cNvSpPr/>
          <p:nvPr/>
        </p:nvSpPr>
        <p:spPr>
          <a:xfrm>
            <a:off x="4453128" y="1874519"/>
            <a:ext cx="530352" cy="530352"/>
          </a:xfrm>
          <a:prstGeom prst="ellipse">
            <a:avLst/>
          </a:prstGeom>
          <a:solidFill>
            <a:srgbClr val="5DE2A5"/>
          </a:solidFill>
          <a:ln w="12700">
            <a:solidFill>
              <a:srgbClr val="5DE2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3128" y="1975104"/>
            <a:ext cx="530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B1020"/>
                </a:solidFill>
                <a:latin typeface="Aptos"/>
              </a:rPr>
              <a:t>✓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992624" y="2139696"/>
            <a:ext cx="1417320" cy="0"/>
          </a:xfrm>
          <a:prstGeom prst="line">
            <a:avLst/>
          </a:prstGeom>
          <a:ln w="25400">
            <a:solidFill>
              <a:srgbClr val="2B36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666744" y="26151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5F7FF"/>
                </a:solidFill>
                <a:latin typeface="Aptos"/>
              </a:rPr>
              <a:t>Lint + Build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66744" y="295351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8B2CB"/>
                </a:solidFill>
                <a:latin typeface="Aptos"/>
              </a:rPr>
              <a:t>Python и TypeScript</a:t>
            </a:r>
          </a:p>
        </p:txBody>
      </p:sp>
      <p:sp>
        <p:nvSpPr>
          <p:cNvPr id="17" name="Oval 16"/>
          <p:cNvSpPr/>
          <p:nvPr/>
        </p:nvSpPr>
        <p:spPr>
          <a:xfrm>
            <a:off x="7223759" y="1874519"/>
            <a:ext cx="530352" cy="530352"/>
          </a:xfrm>
          <a:prstGeom prst="ellipse">
            <a:avLst/>
          </a:prstGeom>
          <a:solidFill>
            <a:srgbClr val="5DE2A5"/>
          </a:solidFill>
          <a:ln w="12700">
            <a:solidFill>
              <a:srgbClr val="5DE2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59" y="1975104"/>
            <a:ext cx="530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B1020"/>
                </a:solidFill>
                <a:latin typeface="Aptos"/>
              </a:rPr>
              <a:t>✓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763255" y="2139696"/>
            <a:ext cx="1417321" cy="0"/>
          </a:xfrm>
          <a:prstGeom prst="line">
            <a:avLst/>
          </a:prstGeom>
          <a:ln w="25400">
            <a:solidFill>
              <a:srgbClr val="2B36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37375" y="26151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5F7FF"/>
                </a:solidFill>
                <a:latin typeface="Aptos"/>
              </a:rPr>
              <a:t>HTTP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7375" y="295351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8B2CB"/>
                </a:solidFill>
                <a:latin typeface="Aptos"/>
              </a:rPr>
              <a:t>API-сценарии</a:t>
            </a:r>
          </a:p>
        </p:txBody>
      </p:sp>
      <p:sp>
        <p:nvSpPr>
          <p:cNvPr id="22" name="Oval 21"/>
          <p:cNvSpPr/>
          <p:nvPr/>
        </p:nvSpPr>
        <p:spPr>
          <a:xfrm>
            <a:off x="9994392" y="1874519"/>
            <a:ext cx="530352" cy="530352"/>
          </a:xfrm>
          <a:prstGeom prst="ellipse">
            <a:avLst/>
          </a:prstGeom>
          <a:solidFill>
            <a:srgbClr val="5DE2A5"/>
          </a:solidFill>
          <a:ln w="12700">
            <a:solidFill>
              <a:srgbClr val="5DE2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94392" y="1975104"/>
            <a:ext cx="530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B1020"/>
                </a:solidFill>
                <a:latin typeface="Aptos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08008" y="26151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5F7FF"/>
                </a:solidFill>
                <a:latin typeface="Aptos"/>
              </a:rPr>
              <a:t>E2E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08008" y="295351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8B2CB"/>
                </a:solidFill>
                <a:latin typeface="Aptos"/>
              </a:rPr>
              <a:t>путь пользователя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" y="3730752"/>
            <a:ext cx="10826496" cy="1481328"/>
          </a:xfrm>
          <a:prstGeom prst="roundRect">
            <a:avLst>
              <a:gd name="adj" fmla="val 8000"/>
            </a:avLst>
          </a:prstGeom>
          <a:solidFill>
            <a:srgbClr val="151C31"/>
          </a:solidFill>
          <a:ln w="12700">
            <a:solidFill>
              <a:srgbClr val="2B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0976" y="3986784"/>
            <a:ext cx="2240280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5F7FF"/>
                </a:solidFill>
                <a:latin typeface="Aptos"/>
              </a:rPr>
              <a:t>Критические сценарии</a:t>
            </a:r>
          </a:p>
        </p:txBody>
      </p:sp>
      <p:sp>
        <p:nvSpPr>
          <p:cNvPr id="28" name="Oval 27"/>
          <p:cNvSpPr/>
          <p:nvPr/>
        </p:nvSpPr>
        <p:spPr>
          <a:xfrm>
            <a:off x="941832" y="4517136"/>
            <a:ext cx="146304" cy="146304"/>
          </a:xfrm>
          <a:prstGeom prst="ellipse">
            <a:avLst/>
          </a:prstGeom>
          <a:solidFill>
            <a:srgbClr val="39D8FF"/>
          </a:solidFill>
          <a:ln w="12700">
            <a:solidFill>
              <a:srgbClr val="39D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97864" y="4489704"/>
            <a:ext cx="4617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8B2CB"/>
                </a:solidFill>
                <a:latin typeface="Aptos"/>
              </a:rPr>
              <a:t>параллельный повтор</a:t>
            </a:r>
          </a:p>
        </p:txBody>
      </p:sp>
      <p:sp>
        <p:nvSpPr>
          <p:cNvPr id="30" name="Oval 29"/>
          <p:cNvSpPr/>
          <p:nvPr/>
        </p:nvSpPr>
        <p:spPr>
          <a:xfrm>
            <a:off x="6190488" y="4517136"/>
            <a:ext cx="146304" cy="146304"/>
          </a:xfrm>
          <a:prstGeom prst="ellipse">
            <a:avLst/>
          </a:prstGeom>
          <a:solidFill>
            <a:srgbClr val="39D8FF"/>
          </a:solidFill>
          <a:ln w="12700">
            <a:solidFill>
              <a:srgbClr val="39D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4489704"/>
            <a:ext cx="4617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8B2CB"/>
                </a:solidFill>
                <a:latin typeface="Aptos"/>
              </a:rPr>
              <a:t>невалидный вариант без записи</a:t>
            </a:r>
          </a:p>
        </p:txBody>
      </p:sp>
      <p:sp>
        <p:nvSpPr>
          <p:cNvPr id="32" name="Oval 31"/>
          <p:cNvSpPr/>
          <p:nvPr/>
        </p:nvSpPr>
        <p:spPr>
          <a:xfrm>
            <a:off x="941832" y="4937760"/>
            <a:ext cx="146304" cy="146304"/>
          </a:xfrm>
          <a:prstGeom prst="ellipse">
            <a:avLst/>
          </a:prstGeom>
          <a:solidFill>
            <a:srgbClr val="39D8FF"/>
          </a:solidFill>
          <a:ln w="12700">
            <a:solidFill>
              <a:srgbClr val="39D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97864" y="4910328"/>
            <a:ext cx="4617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8B2CB"/>
                </a:solidFill>
                <a:latin typeface="Aptos"/>
              </a:rPr>
              <a:t>два браузера за одним IP</a:t>
            </a:r>
          </a:p>
        </p:txBody>
      </p:sp>
      <p:sp>
        <p:nvSpPr>
          <p:cNvPr id="34" name="Oval 33"/>
          <p:cNvSpPr/>
          <p:nvPr/>
        </p:nvSpPr>
        <p:spPr>
          <a:xfrm>
            <a:off x="6190488" y="4937760"/>
            <a:ext cx="146304" cy="146304"/>
          </a:xfrm>
          <a:prstGeom prst="ellipse">
            <a:avLst/>
          </a:prstGeom>
          <a:solidFill>
            <a:srgbClr val="39D8FF"/>
          </a:solidFill>
          <a:ln w="12700">
            <a:solidFill>
              <a:srgbClr val="39D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46520" y="4910328"/>
            <a:ext cx="4617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8B2CB"/>
                </a:solidFill>
                <a:latin typeface="Aptos"/>
              </a:rPr>
              <a:t>rebuild результата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498848" y="5632704"/>
            <a:ext cx="3200400" cy="457200"/>
          </a:xfrm>
          <a:prstGeom prst="roundRect">
            <a:avLst>
              <a:gd name="adj" fmla="val 6000"/>
            </a:avLst>
          </a:prstGeom>
          <a:solidFill>
            <a:srgbClr val="1D2742"/>
          </a:solidFill>
          <a:ln w="12700">
            <a:solidFill>
              <a:srgbClr val="1D27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98848" y="5760720"/>
            <a:ext cx="320040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9D8FF"/>
                </a:solidFill>
                <a:latin typeface="Aptos"/>
              </a:rPr>
              <a:t>make verify → одна команда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3504" y="384048"/>
            <a:ext cx="1417320" cy="310896"/>
          </a:xfrm>
          <a:prstGeom prst="roundRect">
            <a:avLst>
              <a:gd name="adj" fmla="val 18000"/>
            </a:avLst>
          </a:prstGeom>
          <a:solidFill>
            <a:srgbClr val="1D2742"/>
          </a:solidFill>
          <a:ln w="12700">
            <a:solidFill>
              <a:srgbClr val="1D27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393192"/>
            <a:ext cx="141732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9D8FF"/>
                </a:solidFill>
                <a:latin typeface="Aptos"/>
              </a:rPr>
              <a:t>ИТОГ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813816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5F7FF"/>
                </a:solidFill>
                <a:latin typeface="Aptos Display"/>
              </a:rPr>
              <a:t>Что готово и что остаётся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3504" y="1481328"/>
            <a:ext cx="10981944" cy="0"/>
          </a:xfrm>
          <a:prstGeom prst="line">
            <a:avLst/>
          </a:prstGeom>
          <a:ln w="12700">
            <a:solidFill>
              <a:srgbClr val="2B36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137392" y="6419088"/>
            <a:ext cx="4389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A8B2CB"/>
                </a:solidFill>
                <a:latin typeface="Aptos"/>
              </a:rPr>
              <a:t>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847088"/>
            <a:ext cx="5157216" cy="896112"/>
          </a:xfrm>
          <a:prstGeom prst="roundRect">
            <a:avLst>
              <a:gd name="adj" fmla="val 6000"/>
            </a:avLst>
          </a:prstGeom>
          <a:solidFill>
            <a:srgbClr val="151C31"/>
          </a:solidFill>
          <a:ln w="12700">
            <a:solidFill>
              <a:srgbClr val="2B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29968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C857"/>
                </a:solidFill>
                <a:latin typeface="Apto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993392"/>
            <a:ext cx="162763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5F7FF"/>
                </a:solidFill>
                <a:latin typeface="Aptos"/>
              </a:rPr>
              <a:t>Нагрузка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26663" y="1993392"/>
            <a:ext cx="252374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8B2CB"/>
                </a:solidFill>
                <a:latin typeface="Aptos"/>
              </a:rPr>
              <a:t>масштаб нужно подтвердить тестами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2784" y="1847088"/>
            <a:ext cx="5157216" cy="896112"/>
          </a:xfrm>
          <a:prstGeom prst="roundRect">
            <a:avLst>
              <a:gd name="adj" fmla="val 6000"/>
            </a:avLst>
          </a:prstGeom>
          <a:solidFill>
            <a:srgbClr val="151C31"/>
          </a:solidFill>
          <a:ln w="12700">
            <a:solidFill>
              <a:srgbClr val="2B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029968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9D8FF"/>
                </a:solidFill>
                <a:latin typeface="Apto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13448" y="1993392"/>
            <a:ext cx="162763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5F7FF"/>
                </a:solidFill>
                <a:latin typeface="Aptos"/>
              </a:rPr>
              <a:t>Dedup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22792" y="1993392"/>
            <a:ext cx="252374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8B2CB"/>
                </a:solidFill>
                <a:latin typeface="Aptos"/>
              </a:rPr>
              <a:t>cookie защищает от повтора, не от бота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6656" y="2980944"/>
            <a:ext cx="5157216" cy="896112"/>
          </a:xfrm>
          <a:prstGeom prst="roundRect">
            <a:avLst>
              <a:gd name="adj" fmla="val 6000"/>
            </a:avLst>
          </a:prstGeom>
          <a:solidFill>
            <a:srgbClr val="151C31"/>
          </a:solidFill>
          <a:ln w="12700">
            <a:solidFill>
              <a:srgbClr val="2B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3163824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6B7A"/>
                </a:solidFill>
                <a:latin typeface="Aptos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3127248"/>
            <a:ext cx="162763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5F7FF"/>
                </a:solidFill>
                <a:latin typeface="Aptos"/>
              </a:rPr>
              <a:t>Надёжность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26663" y="3127248"/>
            <a:ext cx="252374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8B2CB"/>
                </a:solidFill>
                <a:latin typeface="Aptos"/>
              </a:rPr>
              <a:t>async-журнал нужно вынести в durable queue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72784" y="2980944"/>
            <a:ext cx="5157216" cy="896112"/>
          </a:xfrm>
          <a:prstGeom prst="roundRect">
            <a:avLst>
              <a:gd name="adj" fmla="val 6000"/>
            </a:avLst>
          </a:prstGeom>
          <a:solidFill>
            <a:srgbClr val="151C31"/>
          </a:solidFill>
          <a:ln w="12700">
            <a:solidFill>
              <a:srgbClr val="2B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3163824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8B7CFF"/>
                </a:solidFill>
                <a:latin typeface="Aptos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13448" y="3127248"/>
            <a:ext cx="162763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5F7FF"/>
                </a:solidFill>
                <a:latin typeface="Aptos"/>
              </a:rPr>
              <a:t>Безопасность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22792" y="3127248"/>
            <a:ext cx="252374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8B2CB"/>
                </a:solidFill>
                <a:latin typeface="Aptos"/>
              </a:rPr>
              <a:t>для production нужны OIDC и RBAC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6656" y="4379976"/>
            <a:ext cx="5157216" cy="1161288"/>
          </a:xfrm>
          <a:prstGeom prst="roundRect">
            <a:avLst>
              <a:gd name="adj" fmla="val 6000"/>
            </a:avLst>
          </a:prstGeom>
          <a:solidFill>
            <a:srgbClr val="1D2742"/>
          </a:solidFill>
          <a:ln w="12700">
            <a:solidFill>
              <a:srgbClr val="5DE2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1832" y="4617720"/>
            <a:ext cx="8412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DE2A5"/>
                </a:solidFill>
                <a:latin typeface="Aptos"/>
              </a:rPr>
              <a:t>ГОТОВО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4562856"/>
            <a:ext cx="358444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5F7FF"/>
                </a:solidFill>
                <a:latin typeface="Aptos"/>
              </a:rPr>
              <a:t>Full-stack MVP, Docker,
автотесты и live-результаты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72784" y="4379976"/>
            <a:ext cx="5157216" cy="1161288"/>
          </a:xfrm>
          <a:prstGeom prst="roundRect">
            <a:avLst>
              <a:gd name="adj" fmla="val 6000"/>
            </a:avLst>
          </a:prstGeom>
          <a:solidFill>
            <a:srgbClr val="1D2742"/>
          </a:solidFill>
          <a:ln w="12700">
            <a:solidFill>
              <a:srgbClr val="39D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37960" y="4617720"/>
            <a:ext cx="8412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9D8FF"/>
                </a:solidFill>
                <a:latin typeface="Aptos"/>
              </a:rPr>
              <a:t>ДАЛЕЕ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24927" y="4562856"/>
            <a:ext cx="358444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5F7FF"/>
                </a:solidFill>
                <a:latin typeface="Aptos"/>
              </a:rPr>
              <a:t>Нагрузочное доказательство,
наблюдаемость и hardening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944" y="5934456"/>
            <a:ext cx="107350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5F7FF"/>
                </a:solidFill>
                <a:latin typeface="Aptos"/>
              </a:rPr>
              <a:t>MVP демонстрирует правильные архитектурные границы.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Минутный ТВ-опрос</dc:title>
  <dc:subject>Архитектура высоконагруженного голосования</dc:subject>
  <dc:creator>Crypto Enthusiast</dc:creator>
  <cp:keywords>FastAPI, Redis, PostgreSQL, architecture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