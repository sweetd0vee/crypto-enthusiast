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21792"/>
            <a:ext cx="169164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8580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РАБОТАЮЩИЙ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603504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F5F7FF"/>
                </a:solidFill>
                <a:latin typeface="Aptos Display"/>
              </a:rPr>
              <a:t>Сервис
ТВ-опросов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82112"/>
            <a:ext cx="60807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8B2CB"/>
                </a:solidFill>
                <a:latin typeface="Aptos"/>
              </a:rPr>
              <a:t>Зритель голосует по QR-коду.
Администратор сразу видит результат.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56048"/>
            <a:ext cx="5715000" cy="713232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19379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9D8FF"/>
                </a:solidFill>
                <a:latin typeface="Aptos"/>
              </a:rPr>
              <a:t>Просто для зрителя. Быстро для сервиса.</a:t>
            </a:r>
          </a:p>
        </p:txBody>
      </p:sp>
      <p:sp>
        <p:nvSpPr>
          <p:cNvPr id="8" name="Oval 7"/>
          <p:cNvSpPr/>
          <p:nvPr/>
        </p:nvSpPr>
        <p:spPr>
          <a:xfrm>
            <a:off x="7900416" y="1600200"/>
            <a:ext cx="2971800" cy="2971800"/>
          </a:xfrm>
          <a:prstGeom prst="ellipse">
            <a:avLst/>
          </a:prstGeom>
          <a:solidFill>
            <a:srgbClr val="1D2742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416" y="2487168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900" b="1">
                <a:solidFill>
                  <a:srgbClr val="F5F7FF"/>
                </a:solidFill>
                <a:latin typeface="Aptos"/>
              </a:rPr>
              <a:t>100 млн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6" y="303580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8B2CB"/>
                </a:solidFill>
                <a:latin typeface="Aptos"/>
              </a:rPr>
              <a:t>возможных зрителей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72784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8B2CB"/>
                </a:solidFill>
                <a:latin typeface="Aptos"/>
              </a:rPr>
              <a:t>FASTAPI · REDIS · POSTGRESQL ·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65760"/>
            <a:ext cx="150876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 Display"/>
              </a:rPr>
              <a:t>Что умеет сервис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72184"/>
            <a:ext cx="10945368" cy="0"/>
          </a:xfrm>
          <a:prstGeom prst="line">
            <a:avLst/>
          </a:prstGeom>
          <a:ln w="12700">
            <a:solidFill>
              <a:srgbClr val="2B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28248" y="642823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8B2CB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828800"/>
            <a:ext cx="5230368" cy="3310128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91072" y="1828800"/>
            <a:ext cx="5230368" cy="3310128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21408"/>
            <a:ext cx="114300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85415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ЗРИТЕЛЬ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21408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85415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B7CFF"/>
                </a:solidFill>
                <a:latin typeface="Aptos"/>
              </a:rPr>
              <a:t>АДМИНИСТРАТОР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2852928"/>
            <a:ext cx="228600" cy="228600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2816352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Открывает ссылку по QR-коду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3547872"/>
            <a:ext cx="228600" cy="228600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3511296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Голосует без регистрации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4242816"/>
            <a:ext cx="228600" cy="228600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9032" y="4206240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Не может случайно проголосовать дважды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852928"/>
            <a:ext cx="228600" cy="228600"/>
          </a:xfrm>
          <a:prstGeom prst="ellipse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2816352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Создаёт и запускает опрос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47872"/>
            <a:ext cx="228600" cy="228600"/>
          </a:xfrm>
          <a:prstGeom prst="ellipse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3511296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Получает ссылку и QR-код</a:t>
            </a:r>
          </a:p>
        </p:txBody>
      </p:sp>
      <p:sp>
        <p:nvSpPr>
          <p:cNvPr id="23" name="Oval 22"/>
          <p:cNvSpPr/>
          <p:nvPr/>
        </p:nvSpPr>
        <p:spPr>
          <a:xfrm>
            <a:off x="6592824" y="4242816"/>
            <a:ext cx="228600" cy="228600"/>
          </a:xfrm>
          <a:prstGeom prst="ellipse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4206240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Смотрит результаты в реальном времени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559552"/>
            <a:ext cx="8540496" cy="603504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751576"/>
            <a:ext cx="8540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C857"/>
                </a:solidFill>
                <a:latin typeface="Aptos"/>
              </a:rPr>
              <a:t>Главная сложность: много голосов приходит почти одновременно.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65760"/>
            <a:ext cx="150876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СХЕМА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 Display"/>
              </a:rPr>
              <a:t>Как всё связано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72184"/>
            <a:ext cx="10945368" cy="0"/>
          </a:xfrm>
          <a:prstGeom prst="line">
            <a:avLst/>
          </a:prstGeom>
          <a:ln w="12700">
            <a:solidFill>
              <a:srgbClr val="2B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28248" y="642823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8B2C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21992"/>
            <a:ext cx="2084831" cy="1298448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523744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"/>
              </a:rPr>
              <a:t>Зритель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26080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8B2CB"/>
                </a:solidFill>
                <a:latin typeface="Aptos"/>
              </a:rPr>
              <a:t>открывает QR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98063" y="2871216"/>
            <a:ext cx="512065" cy="0"/>
          </a:xfrm>
          <a:prstGeom prst="line">
            <a:avLst/>
          </a:prstGeom>
          <a:ln w="27940">
            <a:solidFill>
              <a:srgbClr val="39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10128" y="2221992"/>
            <a:ext cx="2084831" cy="1298448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523744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926080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8B2CB"/>
                </a:solidFill>
                <a:latin typeface="Aptos"/>
              </a:rPr>
              <a:t>проверяет запрос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2871216"/>
            <a:ext cx="512064" cy="0"/>
          </a:xfrm>
          <a:prstGeom prst="line">
            <a:avLst/>
          </a:prstGeom>
          <a:ln w="27940">
            <a:solidFill>
              <a:srgbClr val="8B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07024" y="2221992"/>
            <a:ext cx="2084831" cy="1298448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2523744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"/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2926080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8B2CB"/>
                </a:solidFill>
                <a:latin typeface="Aptos"/>
              </a:rPr>
              <a:t>быстро считает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91856" y="2871216"/>
            <a:ext cx="512064" cy="0"/>
          </a:xfrm>
          <a:prstGeom prst="line">
            <a:avLst/>
          </a:prstGeom>
          <a:ln w="27940">
            <a:solidFill>
              <a:srgbClr val="5DE2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03920" y="2221992"/>
            <a:ext cx="2084831" cy="1298448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523744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26080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8B2CB"/>
                </a:solidFill>
                <a:latin typeface="Aptos"/>
              </a:rPr>
              <a:t>надёжно хранит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370832"/>
            <a:ext cx="10204704" cy="1170432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" y="4663440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5DE2A5"/>
                </a:solidFill>
                <a:latin typeface="Aptos"/>
              </a:rPr>
              <a:t>Redis принимает пик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663440"/>
            <a:ext cx="33284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PostgreSQL сохраняет историю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4663440"/>
            <a:ext cx="268833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9D8FF"/>
                </a:solidFill>
                <a:latin typeface="Aptos"/>
              </a:rPr>
              <a:t>API можно масштабировать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961888"/>
            <a:ext cx="10204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5F7FF"/>
                </a:solidFill>
                <a:latin typeface="Aptos"/>
              </a:rPr>
              <a:t>Быстрая часть и надёжная часть не мешают друг другу.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65760"/>
            <a:ext cx="150876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ОДИН ГОЛОС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 Display"/>
              </a:rPr>
              <a:t>Что происходит после нажатия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72184"/>
            <a:ext cx="10945368" cy="0"/>
          </a:xfrm>
          <a:prstGeom prst="line">
            <a:avLst/>
          </a:prstGeom>
          <a:ln w="12700">
            <a:solidFill>
              <a:srgbClr val="2B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28248" y="642823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8B2CB"/>
                </a:solidFill>
                <a:latin typeface="Aptos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1956816"/>
            <a:ext cx="420624" cy="420624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476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7FF"/>
                </a:solidFill>
                <a:latin typeface="Aptos"/>
              </a:rPr>
              <a:t>Проверяем опрос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1343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B2CB"/>
                </a:solidFill>
                <a:latin typeface="Aptos"/>
              </a:rPr>
              <a:t>Он опубликован и ещё открыт.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1956816"/>
            <a:ext cx="420624" cy="420624"/>
          </a:xfrm>
          <a:prstGeom prst="ellipse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04825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9476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7FF"/>
                </a:solidFill>
                <a:latin typeface="Aptos"/>
              </a:rPr>
              <a:t>Проверяем ответ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1343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B2CB"/>
                </a:solidFill>
                <a:latin typeface="Aptos"/>
              </a:rPr>
              <a:t>Такой вариант действительно существует.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456432"/>
            <a:ext cx="420624" cy="420624"/>
          </a:xfrm>
          <a:prstGeom prst="ellipse">
            <a:avLst/>
          </a:prstGeom>
          <a:solidFill>
            <a:srgbClr val="5DE2A5"/>
          </a:solidFill>
          <a:ln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54787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472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7FF"/>
                </a:solidFill>
                <a:latin typeface="Aptos"/>
              </a:rPr>
              <a:t>Проверяем повтор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1304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B2CB"/>
                </a:solidFill>
                <a:latin typeface="Aptos"/>
              </a:rPr>
              <a:t>Этот браузер ещё не голосовал.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3456432"/>
            <a:ext cx="420624" cy="420624"/>
          </a:xfrm>
          <a:prstGeom prst="ellipse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54787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4472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7FF"/>
                </a:solidFill>
                <a:latin typeface="Aptos"/>
              </a:rPr>
              <a:t>Сохраняем голос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81304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B2CB"/>
                </a:solidFill>
                <a:latin typeface="Aptos"/>
              </a:rPr>
              <a:t>Счётчик и журнал получают новое значение.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5148072"/>
            <a:ext cx="9345168" cy="694944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376672"/>
            <a:ext cx="9345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5F7FF"/>
                </a:solidFill>
                <a:latin typeface="Aptos"/>
              </a:rPr>
              <a:t>Проверка повтора и увеличение счётчика выполняются вместе.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6053328"/>
            <a:ext cx="9345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8B2CB"/>
                </a:solidFill>
                <a:latin typeface="Aptos"/>
              </a:rPr>
              <a:t>Новый голос → принят   ·   повторный голос → отклонён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65760"/>
            <a:ext cx="150876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 Display"/>
              </a:rPr>
              <a:t>Демонстрация проекта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72184"/>
            <a:ext cx="10945368" cy="0"/>
          </a:xfrm>
          <a:prstGeom prst="line">
            <a:avLst/>
          </a:prstGeom>
          <a:ln w="12700">
            <a:solidFill>
              <a:srgbClr val="2B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28248" y="642823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8B2C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7452360" cy="4370832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67328" y="3090672"/>
            <a:ext cx="1078992" cy="1078992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31336" y="334670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B1020"/>
                </a:solidFill>
                <a:latin typeface="Aptos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4480560"/>
            <a:ext cx="5596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5F7FF"/>
                </a:solidFill>
                <a:latin typeface="Aptos"/>
              </a:rPr>
              <a:t>МЕСТО ДЛЯ ВИДЕО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4919472"/>
            <a:ext cx="5596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8B2CB"/>
                </a:solidFill>
                <a:latin typeface="Aptos"/>
              </a:rPr>
              <a:t>Оптимальная длительность: 60–90 секунд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874519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F7FF"/>
                </a:solidFill>
                <a:latin typeface="Aptos"/>
              </a:rPr>
              <a:t>В видео</a:t>
            </a:r>
          </a:p>
        </p:txBody>
      </p:sp>
      <p:sp>
        <p:nvSpPr>
          <p:cNvPr id="13" name="Oval 12"/>
          <p:cNvSpPr/>
          <p:nvPr/>
        </p:nvSpPr>
        <p:spPr>
          <a:xfrm>
            <a:off x="8577072" y="2514600"/>
            <a:ext cx="365760" cy="365760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59689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5117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Создание опроса</a:t>
            </a:r>
          </a:p>
        </p:txBody>
      </p:sp>
      <p:sp>
        <p:nvSpPr>
          <p:cNvPr id="16" name="Oval 15"/>
          <p:cNvSpPr/>
          <p:nvPr/>
        </p:nvSpPr>
        <p:spPr>
          <a:xfrm>
            <a:off x="8577072" y="3273552"/>
            <a:ext cx="365760" cy="365760"/>
          </a:xfrm>
          <a:prstGeom prst="ellipse">
            <a:avLst/>
          </a:prstGeom>
          <a:solidFill>
            <a:srgbClr val="39D8FF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335584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31012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Голосование по QR</a:t>
            </a:r>
          </a:p>
        </p:txBody>
      </p:sp>
      <p:sp>
        <p:nvSpPr>
          <p:cNvPr id="19" name="Oval 18"/>
          <p:cNvSpPr/>
          <p:nvPr/>
        </p:nvSpPr>
        <p:spPr>
          <a:xfrm>
            <a:off x="8577072" y="4032504"/>
            <a:ext cx="365760" cy="365760"/>
          </a:xfrm>
          <a:prstGeom prst="ellipse">
            <a:avLst/>
          </a:prstGeom>
          <a:solidFill>
            <a:srgbClr val="5DE2A5"/>
          </a:solidFill>
          <a:ln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411480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06908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Живой результат</a:t>
            </a:r>
          </a:p>
        </p:txBody>
      </p:sp>
      <p:sp>
        <p:nvSpPr>
          <p:cNvPr id="22" name="Oval 21"/>
          <p:cNvSpPr/>
          <p:nvPr/>
        </p:nvSpPr>
        <p:spPr>
          <a:xfrm>
            <a:off x="8577072" y="4791456"/>
            <a:ext cx="365760" cy="365760"/>
          </a:xfrm>
          <a:prstGeom prst="ellipse">
            <a:avLst/>
          </a:prstGeom>
          <a:solidFill>
            <a:srgbClr val="5DE2A5"/>
          </a:solidFill>
          <a:ln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48737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82803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Защита от повтора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65760"/>
            <a:ext cx="1508760" cy="320040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1D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8FF"/>
                </a:solidFill>
                <a:latin typeface="Aptos"/>
              </a:rPr>
              <a:t>ГОТОВО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 Display"/>
              </a:rPr>
              <a:t>Итог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72184"/>
            <a:ext cx="10945368" cy="0"/>
          </a:xfrm>
          <a:prstGeom prst="line">
            <a:avLst/>
          </a:prstGeom>
          <a:ln w="12700">
            <a:solidFill>
              <a:srgbClr val="2B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28248" y="642823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8B2C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56231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76272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Рабочий продукт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06040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2CB"/>
                </a:solidFill>
                <a:latin typeface="Aptos"/>
              </a:rPr>
              <a:t>Публичная форма и админка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56231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176272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Быстрый приём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606040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2CB"/>
                </a:solidFill>
                <a:latin typeface="Aptos"/>
              </a:rPr>
              <a:t>Redis считает голоса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856231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151C31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3" y="2176272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Надёжный итог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3" y="2606040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2CB"/>
                </a:solidFill>
                <a:latin typeface="Aptos"/>
              </a:rPr>
              <a:t>PostgreSQL хранит историю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67328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7FF"/>
                </a:solidFill>
                <a:latin typeface="Aptos"/>
              </a:rPr>
              <a:t>Что нужно для большой нагрузки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7CF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297680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8B2CB"/>
                </a:solidFill>
                <a:latin typeface="Aptos"/>
              </a:rPr>
              <a:t>Провести полноценный нагрузочный тест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28031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7C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809744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8B2CB"/>
                </a:solidFill>
                <a:latin typeface="Aptos"/>
              </a:rPr>
              <a:t>Добавить мониторинг и уведомления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009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7C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321808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8B2CB"/>
                </a:solidFill>
                <a:latin typeface="Aptos"/>
              </a:rPr>
              <a:t>Усилить авторизацию и защиту от ботов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9128" y="3749039"/>
            <a:ext cx="4718304" cy="1901952"/>
          </a:xfrm>
          <a:prstGeom prst="roundRect">
            <a:avLst>
              <a:gd name="adj" fmla="val 8000"/>
            </a:avLst>
          </a:prstGeom>
          <a:solidFill>
            <a:srgbClr val="1D2742"/>
          </a:solidFill>
          <a:ln w="15240">
            <a:solidFill>
              <a:srgbClr val="5D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0965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DE2A5"/>
                </a:solidFill>
                <a:latin typeface="Aptos"/>
              </a:rPr>
              <a:t>Главный 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72000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5F7FF"/>
                </a:solidFill>
                <a:latin typeface="Aptos"/>
              </a:rPr>
              <a:t>Система уже работает
и готова к демонстрации.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Сервис ТВ-опросов</dc:title>
  <dc:subject>Краткая презентация проекта</dc:subject>
  <dc:creator>Crypto Enthusiast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